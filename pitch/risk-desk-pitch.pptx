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58" r:id="rId9"/>
    <p:sldId id="259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[30 секунд]</a:t>
            </a:r>
          </a:p>
          <a:p>
            <a:r>
              <a:t>Risk Desk — панель для маркетологов хостинг-провайдера. Она помогает определить, кому важнее всего уделить внимание. В базе есть клиенты с разными услугами, сроками продления и балансами. Маркетологу важно понять, где обращение действительно нужно и с каким вопросом обратиться. Мы построили решение вокруг этой задачи: разобраться в ситуации клиента и быстрее перейти к разговору.</a:t>
            </a:r>
          </a:p>
          <a:p>
            <a:endParaRPr/>
          </a:p>
          <a:p>
            <a:r>
              <a:t>Кейс Aéza и текущий прототип. Логотип — исходный знак из предоставленного брендбука, экспортированный в PNG для совместимости. Палитра Aéza: #4CC6F1 и #182D48.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[45 секунд]</a:t>
            </a:r>
          </a:p>
          <a:p>
            <a:r>
              <a:t>Мы выделили три проблемы маркетолога в этом сценарии. Первая — время на разбор. Нужно сопоставить сроки продления, остаток денег и статусы услуг. Вторая — выбор приоритета. Сам по себе высокий риск ещё не объясняет, насколько срочно нужно связаться с клиентом и какие платежи затронуты. Третья — содержание обращения. Даже выбрав клиента, маркетолог должен понять, что произошло и какой вопрос задать. Пока всё это приходится собирать вручную, подготовка занимает время. Это постановка задачи по кейсу, а не утверждение о фактической работе отдела Aéza.</a:t>
            </a:r>
          </a:p>
          <a:p>
            <a:endParaRPr/>
          </a:p>
          <a:p>
            <a:r>
              <a:t>Проблемы сформулированы как задачи пользователя по кейсу. Публичные показатели оттока Aéza не найдены и не используются.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[70 секунд]</a:t>
            </a:r>
          </a:p>
          <a:p>
            <a:r>
              <a:t>Risk Desk задаёт вектор обращения и сокращает ручную подготовку перед реакцией маркетолога. Сервис сопоставляет данные об оплате и услугах, оценивает риск и показывает причины. Затем по этой ситуации готовит черновик письма. Вот демонстрационный пример: до продления два дня, стоимость пять евро пятьдесят, а на балансе три евро. Не хватает двух с половиной евро, и автопродление отключено. Маркетолог видит конкретный повод для диалога: узнать, планирует ли клиент продолжать пользоваться услугой, и напомнить о пополнении. Текст справа показывает, как это может выглядеть. Маркетолог проверяет сообщение и отправляет его сам. Мы автоматизируем сопоставление данных и подготовку черновика. Решение о контакте остаётся у человека.</a:t>
            </a:r>
          </a:p>
          <a:p>
            <a:endParaRPr/>
          </a:p>
          <a:p>
            <a:r>
              <a:t>Демонстрационный снимок data/seed.json, клиент 6, услуга 6, AS_OF=2026-10-23T18:00:00Z. Срок 2 дня, цена 550 евроцентов, баланс 300 евроцентов, разница 250 евроцентов. Черновик сокращён для презентации. Подготовка черновика и ручная отправка: frontend/src/components/EmailDraft.tsx. «Сокращает время реакции» описывает уменьшение ручных шагов благодаря автоматизации. Фактическое сокращение времени не измерялось. Риск эвристический, гарантии продления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[35 секунд]</a:t>
            </a:r>
          </a:p>
          <a:p>
            <a:r>
              <a:t>Мы сокращаем путь между сигналом риска и обращением к клиенту. Маркетолог открывает клиента уже с пониманием, что произошло и какой вопрос стоит задать. В этом для нас главный смысл Risk Desk: данные помогают подготовить конкретное обращение в нужный момент. Здесь QR-код репозитория с работающим прототипом. Спасибо.</a:t>
            </a:r>
          </a:p>
          <a:p>
            <a:endParaRPr/>
          </a:p>
          <a:p>
            <a:r>
              <a:t>Репозиторий: https://github.com/Demtory/Hack23.10.26. Фактическое сокращение оттока и времени работы пока не измерено. Декоративный фон создан встроенным инструментом генерации изображений. Запрос: спокойный бело-голубой фон 16:9, мягкие полупрозрачные голубые поверхности справа, свободное поле слева, без надписей и логотипов.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BE91F50-1671-4E02-AA42-4667AC1D9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00A700D-20F7-4245-AA5E-CA3680C807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B8B5FE0D-163C-4793-BCBD-670D2E4FE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C7FD73BF-DD61-4B9A-B0AD-FA04CFA8F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CBE163A-0D3F-4C13-BC2B-9EBE329710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5C38BE1-5D6A-4299-83E9-D3F17334F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3B3FA633-C325-48BB-9409-0FB7929A76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39E48EA7-EFE3-4B8E-A445-0497F23D88E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EB1DBFF-408F-4373-8677-88077C6D8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5C245C4-8435-47BD-B2AF-E33D80A547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hyperlink" Target="https://github.com/Demtory/Hack23.10.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duct">
            <a:extLst>
              <a:ext uri="{FF2B5EF4-FFF2-40B4-BE49-F238E27FC236}">
                <a16:creationId xmlns:a16="http://schemas.microsoft.com/office/drawing/2014/main" id="{DAE9BB69-A8BA-4D78-878F-EC5988C0A3A6}"/>
              </a:ext>
            </a:extLst>
          </p:cNvPr>
          <p:cNvSpPr>
            <a:spLocks noGrp="1"/>
          </p:cNvSpPr>
          <p:nvPr/>
        </p:nvSpPr>
        <p:spPr>
          <a:xfrm>
            <a:off x="762000" y="552450"/>
            <a:ext cx="5715000" cy="533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2700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Risk Desk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096500" y="617660"/>
            <a:ext cx="1333500" cy="307731"/>
          </a:xfrm>
          <a:prstGeom prst="rect">
            <a:avLst/>
          </a:prstGeom>
        </p:spPr>
      </p:pic>
      <p:sp>
        <p:nvSpPr>
          <p:cNvPr id="5" name="audience-title">
            <a:extLst>
              <a:ext uri="{FF2B5EF4-FFF2-40B4-BE49-F238E27FC236}">
                <a16:creationId xmlns:a16="http://schemas.microsoft.com/office/drawing/2014/main" id="{FA1AFEAB-2060-4F44-B0A1-C41182E4C89B}"/>
              </a:ext>
            </a:extLst>
          </p:cNvPr>
          <p:cNvSpPr>
            <a:spLocks noGrp="1"/>
          </p:cNvSpPr>
          <p:nvPr/>
        </p:nvSpPr>
        <p:spPr>
          <a:xfrm>
            <a:off x="723900" y="2362200"/>
            <a:ext cx="7772400" cy="1714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457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457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457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457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457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457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457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457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457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457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4575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Маркетологи</a:t>
            </a:r>
          </a:p>
          <a:p>
            <a:pPr>
              <a:buNone/>
              <a:defRPr sz="457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4575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хостинг-провайдеров</a:t>
            </a:r>
          </a:p>
        </p:txBody>
      </p:sp>
      <p:sp>
        <p:nvSpPr>
          <p:cNvPr id="6" name="audience-task">
            <a:extLst>
              <a:ext uri="{FF2B5EF4-FFF2-40B4-BE49-F238E27FC236}">
                <a16:creationId xmlns:a16="http://schemas.microsoft.com/office/drawing/2014/main" id="{B8F36721-8EBD-4BFF-B643-1C59B1881F69}"/>
              </a:ext>
            </a:extLst>
          </p:cNvPr>
          <p:cNvSpPr>
            <a:spLocks noGrp="1"/>
          </p:cNvSpPr>
          <p:nvPr/>
        </p:nvSpPr>
        <p:spPr>
          <a:xfrm>
            <a:off x="762000" y="5086350"/>
            <a:ext cx="7772400" cy="914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23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1pPr>
            <a:lvl2pPr>
              <a:buNone/>
              <a:defRPr sz="23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2pPr>
            <a:lvl3pPr>
              <a:buNone/>
              <a:defRPr sz="23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3pPr>
            <a:lvl4pPr>
              <a:buNone/>
              <a:defRPr sz="23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4pPr>
            <a:lvl5pPr>
              <a:buNone/>
              <a:defRPr sz="23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5pPr>
            <a:lvl6pPr>
              <a:buNone/>
              <a:defRPr sz="23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6pPr>
            <a:lvl7pPr>
              <a:buNone/>
              <a:defRPr sz="23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7pPr>
            <a:lvl8pPr>
              <a:buNone/>
              <a:defRPr sz="23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8pPr>
            <a:lvl9pPr>
              <a:buNone/>
              <a:defRPr sz="23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buNone/>
              <a:defRPr sz="23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Помогаем определить,</a:t>
            </a:r>
          </a:p>
          <a:p>
            <a:pPr>
              <a:buNone/>
              <a:defRPr sz="23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кому важнее всего уделить внимание</a:t>
            </a:r>
          </a:p>
        </p:txBody>
      </p:sp>
      <p:sp>
        <p:nvSpPr>
          <p:cNvPr id="7" name="audience-label">
            <a:extLst>
              <a:ext uri="{FF2B5EF4-FFF2-40B4-BE49-F238E27FC236}">
                <a16:creationId xmlns:a16="http://schemas.microsoft.com/office/drawing/2014/main" id="{A8FFA0D9-8DE4-49BB-A5AD-A2E921094CE5}"/>
              </a:ext>
            </a:extLst>
          </p:cNvPr>
          <p:cNvSpPr>
            <a:spLocks noGrp="1"/>
          </p:cNvSpPr>
          <p:nvPr/>
        </p:nvSpPr>
        <p:spPr>
          <a:xfrm>
            <a:off x="762000" y="1762125"/>
            <a:ext cx="5715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1875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1pPr>
            <a:lvl2pPr>
              <a:buNone/>
              <a:defRPr sz="1875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2pPr>
            <a:lvl3pPr>
              <a:buNone/>
              <a:defRPr sz="1875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3pPr>
            <a:lvl4pPr>
              <a:buNone/>
              <a:defRPr sz="1875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4pPr>
            <a:lvl5pPr>
              <a:buNone/>
              <a:defRPr sz="1875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5pPr>
            <a:lvl6pPr>
              <a:buNone/>
              <a:defRPr sz="1875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6pPr>
            <a:lvl7pPr>
              <a:buNone/>
              <a:defRPr sz="1875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7pPr>
            <a:lvl8pPr>
              <a:buNone/>
              <a:defRPr sz="1875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8pPr>
            <a:lvl9pPr>
              <a:buNone/>
              <a:defRPr sz="1875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buNone/>
              <a:defRPr sz="1875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087DA5"/>
                </a:solidFill>
                <a:latin typeface="Inter"/>
                <a:ea typeface="Inter"/>
                <a:cs typeface="Inter"/>
              </a:rPr>
              <a:t>Целевая аудитория</a:t>
            </a:r>
          </a:p>
        </p:txBody>
      </p:sp>
      <p:pic>
        <p:nvPicPr>
          <p:cNvPr id="13" name="Picture 12" descr="qr-d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4272" y="2377440"/>
            <a:ext cx="2395728" cy="23957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4272" y="4983480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82D48"/>
                </a:solidFill>
                <a:latin typeface="Exo 2"/>
              </a:defRPr>
            </a:pPr>
            <a:r>
              <a:t>Демо сервиса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5440680"/>
            <a:ext cx="25603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87DA5"/>
                </a:solidFill>
                <a:latin typeface="Exo 2"/>
              </a:defRPr>
            </a:pPr>
            <a:r>
              <a:rPr dirty="0"/>
              <a:t>193.233.246.179:8000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087DA5"/>
                </a:solidFill>
                <a:latin typeface="Exo 2"/>
              </a:rPr>
              <a:t>01 / 09</a:t>
            </a:r>
          </a:p>
        </p:txBody>
      </p:sp>
    </p:spTree>
    <p:extLst>
      <p:ext uri="{BB962C8B-B14F-4D97-AF65-F5344CB8AC3E}">
        <p14:creationId xmlns:p14="http://schemas.microsoft.com/office/powerpoint/2010/main" val="1971379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blem-title">
            <a:extLst>
              <a:ext uri="{FF2B5EF4-FFF2-40B4-BE49-F238E27FC236}">
                <a16:creationId xmlns:a16="http://schemas.microsoft.com/office/drawing/2014/main" id="{FCE1EF0C-3864-4C1A-8420-0C4ACAFE7262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42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42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42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42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42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42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42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42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42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42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4200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Проблемы маркетолога</a:t>
            </a:r>
          </a:p>
        </p:txBody>
      </p:sp>
      <p:sp>
        <p:nvSpPr>
          <p:cNvPr id="3" name="time-label">
            <a:extLst>
              <a:ext uri="{FF2B5EF4-FFF2-40B4-BE49-F238E27FC236}">
                <a16:creationId xmlns:a16="http://schemas.microsoft.com/office/drawing/2014/main" id="{F46E0BE9-D3A2-4A5C-907C-E6AEBDF43EDF}"/>
              </a:ext>
            </a:extLst>
          </p:cNvPr>
          <p:cNvSpPr>
            <a:spLocks noGrp="1"/>
          </p:cNvSpPr>
          <p:nvPr/>
        </p:nvSpPr>
        <p:spPr>
          <a:xfrm>
            <a:off x="1714500" y="2762250"/>
            <a:ext cx="694944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2250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На разбор клиента уходит время</a:t>
            </a:r>
          </a:p>
        </p:txBody>
      </p:sp>
      <p:sp>
        <p:nvSpPr>
          <p:cNvPr id="4" name="time-description">
            <a:extLst>
              <a:ext uri="{FF2B5EF4-FFF2-40B4-BE49-F238E27FC236}">
                <a16:creationId xmlns:a16="http://schemas.microsoft.com/office/drawing/2014/main" id="{B0FBB8E1-C8A0-4BD8-BCDC-E200D97CB968}"/>
              </a:ext>
            </a:extLst>
          </p:cNvPr>
          <p:cNvSpPr>
            <a:spLocks noGrp="1"/>
          </p:cNvSpPr>
          <p:nvPr/>
        </p:nvSpPr>
        <p:spPr>
          <a:xfrm>
            <a:off x="1714500" y="3219450"/>
            <a:ext cx="694944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1pPr>
            <a:lvl2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2pPr>
            <a:lvl3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3pPr>
            <a:lvl4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4pPr>
            <a:lvl5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5pPr>
            <a:lvl6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6pPr>
            <a:lvl7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7pPr>
            <a:lvl8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8pPr>
            <a:lvl9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1875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Нужно сопоставить баланс, сроки и статусы услуг.</a:t>
            </a:r>
          </a:p>
        </p:txBody>
      </p:sp>
      <p:sp>
        <p:nvSpPr>
          <p:cNvPr id="5" name="priority-label">
            <a:extLst>
              <a:ext uri="{FF2B5EF4-FFF2-40B4-BE49-F238E27FC236}">
                <a16:creationId xmlns:a16="http://schemas.microsoft.com/office/drawing/2014/main" id="{41C8DA27-638E-4E65-B0C3-93D155D89DED}"/>
              </a:ext>
            </a:extLst>
          </p:cNvPr>
          <p:cNvSpPr>
            <a:spLocks noGrp="1"/>
          </p:cNvSpPr>
          <p:nvPr/>
        </p:nvSpPr>
        <p:spPr>
          <a:xfrm>
            <a:off x="1714500" y="3943350"/>
            <a:ext cx="694944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2250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Неясно, кому уделить внимание</a:t>
            </a:r>
          </a:p>
        </p:txBody>
      </p:sp>
      <p:sp>
        <p:nvSpPr>
          <p:cNvPr id="6" name="priority-description">
            <a:extLst>
              <a:ext uri="{FF2B5EF4-FFF2-40B4-BE49-F238E27FC236}">
                <a16:creationId xmlns:a16="http://schemas.microsoft.com/office/drawing/2014/main" id="{273AFC3F-E692-4CB4-BE96-EB3317DCBCB4}"/>
              </a:ext>
            </a:extLst>
          </p:cNvPr>
          <p:cNvSpPr>
            <a:spLocks noGrp="1"/>
          </p:cNvSpPr>
          <p:nvPr/>
        </p:nvSpPr>
        <p:spPr>
          <a:xfrm>
            <a:off x="1714500" y="4400550"/>
            <a:ext cx="694944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1pPr>
            <a:lvl2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2pPr>
            <a:lvl3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3pPr>
            <a:lvl4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4pPr>
            <a:lvl5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5pPr>
            <a:lvl6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6pPr>
            <a:lvl7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7pPr>
            <a:lvl8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8pPr>
            <a:lvl9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1875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Риск нужно учитывать вместе со сроками и деньгами.</a:t>
            </a:r>
          </a:p>
        </p:txBody>
      </p:sp>
      <p:sp>
        <p:nvSpPr>
          <p:cNvPr id="7" name="dialogue-label">
            <a:extLst>
              <a:ext uri="{FF2B5EF4-FFF2-40B4-BE49-F238E27FC236}">
                <a16:creationId xmlns:a16="http://schemas.microsoft.com/office/drawing/2014/main" id="{F617F7BA-61ED-4C2F-A58B-15F51C939927}"/>
              </a:ext>
            </a:extLst>
          </p:cNvPr>
          <p:cNvSpPr>
            <a:spLocks noGrp="1"/>
          </p:cNvSpPr>
          <p:nvPr/>
        </p:nvSpPr>
        <p:spPr>
          <a:xfrm>
            <a:off x="1714500" y="5124450"/>
            <a:ext cx="694944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2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2250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Обращение приходится готовить вручную</a:t>
            </a:r>
          </a:p>
        </p:txBody>
      </p:sp>
      <p:sp>
        <p:nvSpPr>
          <p:cNvPr id="8" name="dialogue-description">
            <a:extLst>
              <a:ext uri="{FF2B5EF4-FFF2-40B4-BE49-F238E27FC236}">
                <a16:creationId xmlns:a16="http://schemas.microsoft.com/office/drawing/2014/main" id="{A1070F33-D32E-479A-AF2E-F1E2F19B9A5B}"/>
              </a:ext>
            </a:extLst>
          </p:cNvPr>
          <p:cNvSpPr>
            <a:spLocks noGrp="1"/>
          </p:cNvSpPr>
          <p:nvPr/>
        </p:nvSpPr>
        <p:spPr>
          <a:xfrm>
            <a:off x="1714500" y="5581650"/>
            <a:ext cx="694944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1pPr>
            <a:lvl2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2pPr>
            <a:lvl3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3pPr>
            <a:lvl4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4pPr>
            <a:lvl5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5pPr>
            <a:lvl6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6pPr>
            <a:lvl7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7pPr>
            <a:lvl8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8pPr>
            <a:lvl9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1875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Причину риска ещё нужно превратить в вопрос клиенту.</a:t>
            </a:r>
          </a:p>
        </p:txBody>
      </p:sp>
      <p:sp>
        <p:nvSpPr>
          <p:cNvPr id="9" name="problem-question">
            <a:extLst>
              <a:ext uri="{FF2B5EF4-FFF2-40B4-BE49-F238E27FC236}">
                <a16:creationId xmlns:a16="http://schemas.microsoft.com/office/drawing/2014/main" id="{B77F0926-C545-461F-A1BC-F9265B67B8D6}"/>
              </a:ext>
            </a:extLst>
          </p:cNvPr>
          <p:cNvSpPr>
            <a:spLocks noGrp="1"/>
          </p:cNvSpPr>
          <p:nvPr/>
        </p:nvSpPr>
        <p:spPr>
          <a:xfrm>
            <a:off x="762000" y="1609725"/>
            <a:ext cx="1066800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2100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1pPr>
            <a:lvl2pPr>
              <a:buNone/>
              <a:defRPr sz="2100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2pPr>
            <a:lvl3pPr>
              <a:buNone/>
              <a:defRPr sz="2100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3pPr>
            <a:lvl4pPr>
              <a:buNone/>
              <a:defRPr sz="2100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4pPr>
            <a:lvl5pPr>
              <a:buNone/>
              <a:defRPr sz="2100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5pPr>
            <a:lvl6pPr>
              <a:buNone/>
              <a:defRPr sz="2100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6pPr>
            <a:lvl7pPr>
              <a:buNone/>
              <a:defRPr sz="2100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7pPr>
            <a:lvl8pPr>
              <a:buNone/>
              <a:defRPr sz="2100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8pPr>
            <a:lvl9pPr>
              <a:buNone/>
              <a:defRPr sz="2100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buNone/>
              <a:defRPr sz="2100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Кому важнее уделить внимание и с чем обратиться?</a:t>
            </a:r>
          </a:p>
        </p:txBody>
      </p:sp>
      <p:sp>
        <p:nvSpPr>
          <p:cNvPr id="10" name="time-number">
            <a:extLst>
              <a:ext uri="{FF2B5EF4-FFF2-40B4-BE49-F238E27FC236}">
                <a16:creationId xmlns:a16="http://schemas.microsoft.com/office/drawing/2014/main" id="{DBD98EDD-2719-4BA6-84F7-32F0F74B9EB8}"/>
              </a:ext>
            </a:extLst>
          </p:cNvPr>
          <p:cNvSpPr>
            <a:spLocks noGrp="1"/>
          </p:cNvSpPr>
          <p:nvPr/>
        </p:nvSpPr>
        <p:spPr>
          <a:xfrm>
            <a:off x="762000" y="2752725"/>
            <a:ext cx="6667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pPr>
            <a:r>
              <a:rPr sz="3225" b="1">
                <a:solidFill>
                  <a:srgbClr val="087DA5"/>
                </a:solidFill>
                <a:latin typeface="Exo 2"/>
                <a:ea typeface="Exo 2"/>
                <a:cs typeface="Exo 2"/>
              </a:rPr>
              <a:t>01</a:t>
            </a:r>
          </a:p>
        </p:txBody>
      </p:sp>
      <p:sp>
        <p:nvSpPr>
          <p:cNvPr id="11" name="priority-number">
            <a:extLst>
              <a:ext uri="{FF2B5EF4-FFF2-40B4-BE49-F238E27FC236}">
                <a16:creationId xmlns:a16="http://schemas.microsoft.com/office/drawing/2014/main" id="{24DA4441-EA05-4E45-A625-455DC80F447B}"/>
              </a:ext>
            </a:extLst>
          </p:cNvPr>
          <p:cNvSpPr>
            <a:spLocks noGrp="1"/>
          </p:cNvSpPr>
          <p:nvPr/>
        </p:nvSpPr>
        <p:spPr>
          <a:xfrm>
            <a:off x="762000" y="3933825"/>
            <a:ext cx="6667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pPr>
            <a:r>
              <a:rPr sz="3225" b="1">
                <a:solidFill>
                  <a:srgbClr val="087DA5"/>
                </a:solidFill>
                <a:latin typeface="Exo 2"/>
                <a:ea typeface="Exo 2"/>
                <a:cs typeface="Exo 2"/>
              </a:rPr>
              <a:t>02</a:t>
            </a:r>
          </a:p>
        </p:txBody>
      </p:sp>
      <p:sp>
        <p:nvSpPr>
          <p:cNvPr id="12" name="dialogue-number">
            <a:extLst>
              <a:ext uri="{FF2B5EF4-FFF2-40B4-BE49-F238E27FC236}">
                <a16:creationId xmlns:a16="http://schemas.microsoft.com/office/drawing/2014/main" id="{F4CE4B71-DEBE-48BA-A70B-B72A4EFB703D}"/>
              </a:ext>
            </a:extLst>
          </p:cNvPr>
          <p:cNvSpPr>
            <a:spLocks noGrp="1"/>
          </p:cNvSpPr>
          <p:nvPr/>
        </p:nvSpPr>
        <p:spPr>
          <a:xfrm>
            <a:off x="762000" y="5114925"/>
            <a:ext cx="66675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3225" b="1">
                <a:solidFill>
                  <a:srgbClr val="087DA5"/>
                </a:solidFill>
                <a:latin typeface="Exo 2"/>
                <a:ea typeface="Exo 2"/>
                <a:cs typeface="Exo 2"/>
              </a:defRPr>
            </a:pPr>
            <a:r>
              <a:rPr sz="3225" b="1">
                <a:solidFill>
                  <a:srgbClr val="087DA5"/>
                </a:solidFill>
                <a:latin typeface="Exo 2"/>
                <a:ea typeface="Exo 2"/>
                <a:cs typeface="Exo 2"/>
              </a:rPr>
              <a:t>03</a:t>
            </a:r>
          </a:p>
        </p:txBody>
      </p:sp>
      <p:pic>
        <p:nvPicPr>
          <p:cNvPr id="13" name="Picture 12" descr="qr-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4272" y="2377440"/>
            <a:ext cx="2395728" cy="23957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4272" y="4983480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82D48"/>
                </a:solidFill>
                <a:latin typeface="Exo 2"/>
              </a:defRPr>
            </a:pPr>
            <a:r>
              <a:t>Демо сервиса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5440680"/>
            <a:ext cx="25603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87DA5"/>
                </a:solidFill>
                <a:latin typeface="Exo 2"/>
              </a:defRPr>
            </a:pPr>
            <a:r>
              <a:rPr dirty="0"/>
              <a:t>193.233.246.179:8000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087DA5"/>
                </a:solidFill>
                <a:latin typeface="Exo 2"/>
              </a:rPr>
              <a:t>02 / 09</a:t>
            </a:r>
          </a:p>
        </p:txBody>
      </p:sp>
    </p:spTree>
    <p:extLst>
      <p:ext uri="{BB962C8B-B14F-4D97-AF65-F5344CB8AC3E}">
        <p14:creationId xmlns:p14="http://schemas.microsoft.com/office/powerpoint/2010/main" val="1742126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8952" y="475488"/>
            <a:ext cx="10744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087DA5"/>
                </a:solidFill>
                <a:latin typeface="Inter"/>
              </a:defRPr>
            </a:pPr>
            <a:r>
              <a:t>СТРАНИЦА 1 ИЗ 4 · ОБЗОР РИСКА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786384"/>
            <a:ext cx="10744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182D48"/>
                </a:solidFill>
                <a:latin typeface="Exo 2"/>
              </a:defRPr>
            </a:pPr>
            <a:r>
              <a:t>Дашборд: единый обзор рисков и потерь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371600"/>
            <a:ext cx="10744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>
                <a:solidFill>
                  <a:srgbClr val="182D48"/>
                </a:solidFill>
                <a:latin typeface="Inter"/>
              </a:defRPr>
            </a:pPr>
            <a:r>
              <a:t>Маркетолог в первые секунды видит объём риска, платежи под угрозой и приоритетных клиентов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965960"/>
            <a:ext cx="35661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2112264"/>
            <a:ext cx="31638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01  </a:t>
            </a:r>
            <a:r>
              <a:rPr sz="1550" b="1">
                <a:solidFill>
                  <a:srgbClr val="182D48"/>
                </a:solidFill>
                <a:latin typeface="Exo 2"/>
              </a:rPr>
              <a:t>Сводные потери бизнеса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Расчёт от реальной стоимости услуг (price) с учётом остатка баланса.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474720"/>
            <a:ext cx="35661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" y="3621024"/>
            <a:ext cx="31638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02  </a:t>
            </a:r>
            <a:r>
              <a:rPr sz="1550" b="1">
                <a:solidFill>
                  <a:srgbClr val="182D48"/>
                </a:solidFill>
                <a:latin typeface="Exo 2"/>
              </a:rPr>
              <a:t>Градации риска оттока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Чёткие уровни: Высокий (≥ 70), Средний (40..69) и Низкий (&lt; 40).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983480"/>
            <a:ext cx="35661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5129784"/>
            <a:ext cx="31638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03  </a:t>
            </a:r>
            <a:r>
              <a:rPr sz="1550" b="1">
                <a:solidFill>
                  <a:srgbClr val="182D48"/>
                </a:solidFill>
                <a:latin typeface="Exo 2"/>
              </a:rPr>
              <a:t>Виджет топ-потерь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Список клиентов с наибольшим риском денежных потерь для скорейшего звонка.</a:t>
            </a:r>
          </a:p>
        </p:txBody>
      </p:sp>
      <p:pic>
        <p:nvPicPr>
          <p:cNvPr id="13" name="Picture 12" descr="slid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993392"/>
            <a:ext cx="6903720" cy="4279392"/>
          </a:xfrm>
          <a:prstGeom prst="rect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10515600" y="640080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087DA5"/>
                </a:solidFill>
                <a:latin typeface="Exo 2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8952" y="475488"/>
            <a:ext cx="10744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087DA5"/>
                </a:solidFill>
                <a:latin typeface="Inter"/>
              </a:defRPr>
            </a:pPr>
            <a:r>
              <a:t>СТРАНИЦА 2 ИЗ 4 · КЛИЕНТЫ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786384"/>
            <a:ext cx="10744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182D48"/>
                </a:solidFill>
                <a:latin typeface="Exo 2"/>
              </a:defRPr>
            </a:pPr>
            <a:r>
              <a:t>Рейтинг клиентов: сортировка и срочность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371600"/>
            <a:ext cx="10744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>
                <a:solidFill>
                  <a:srgbClr val="182D48"/>
                </a:solidFill>
                <a:latin typeface="Inter"/>
              </a:defRPr>
            </a:pPr>
            <a:r>
              <a:t>Интерактивная таблица клиентской базы с фильтрацией по горизонту списаний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965960"/>
            <a:ext cx="35661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2112264"/>
            <a:ext cx="31638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01  </a:t>
            </a:r>
            <a:r>
              <a:rPr sz="1550" b="1">
                <a:solidFill>
                  <a:srgbClr val="182D48"/>
                </a:solidFill>
                <a:latin typeface="Exo 2"/>
              </a:rPr>
              <a:t>Двусторонняя сортировка (↑ / ↓)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По ID, Email, балансу, суммарным пополнениям и итоговому Risk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474720"/>
            <a:ext cx="35661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" y="3621024"/>
            <a:ext cx="31638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02  </a:t>
            </a:r>
            <a:r>
              <a:rPr sz="1550" b="1">
                <a:solidFill>
                  <a:srgbClr val="182D48"/>
                </a:solidFill>
                <a:latin typeface="Exo 2"/>
              </a:rPr>
              <a:t>Фильтр срочности продления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Мгновенная выборка клиентов, чьи серверы истекают через 24ч, 7 или 30 дней.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983480"/>
            <a:ext cx="35661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5129784"/>
            <a:ext cx="31638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03  </a:t>
            </a:r>
            <a:r>
              <a:rPr sz="1550" b="1">
                <a:solidFill>
                  <a:srgbClr val="182D48"/>
                </a:solidFill>
                <a:latin typeface="Exo 2"/>
              </a:rPr>
              <a:t>Экспорт когорты в CSV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Выгрузка отфильтрованного списка в один клик для отдела продаж и CRM.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087DA5"/>
                </a:solidFill>
                <a:latin typeface="Exo 2"/>
              </a:rPr>
              <a:t>04 / 09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79C7FD8-F2A6-5990-1D88-6BA9B8CF6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60" y="1965959"/>
            <a:ext cx="6612838" cy="4279391"/>
          </a:xfrm>
          <a:prstGeom prst="rect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8952" y="475488"/>
            <a:ext cx="10744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087DA5"/>
                </a:solidFill>
                <a:latin typeface="Inter"/>
              </a:defRPr>
            </a:pPr>
            <a:r>
              <a:t>ИНДИВИДУАЛЬНЫЙ РАЗБОР И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786384"/>
            <a:ext cx="10744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182D48"/>
                </a:solidFill>
                <a:latin typeface="Exo 2"/>
              </a:defRPr>
            </a:pPr>
            <a:r>
              <a:t>Карточка клиента и готовый черновик письма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371600"/>
            <a:ext cx="10744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>
                <a:solidFill>
                  <a:srgbClr val="182D48"/>
                </a:solidFill>
                <a:latin typeface="Inter"/>
              </a:defRPr>
            </a:pPr>
            <a:r>
              <a:t>Система автоматически объясняет причину риска и формирует персональное обращение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95517" y="1965960"/>
            <a:ext cx="33375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96685" y="2112264"/>
            <a:ext cx="29352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01  </a:t>
            </a:r>
            <a:r>
              <a:rPr sz="1550" b="1">
                <a:solidFill>
                  <a:srgbClr val="182D48"/>
                </a:solidFill>
                <a:latin typeface="Exo 2"/>
              </a:rPr>
              <a:t>Детализация по услугам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Полное досье: статус каждого сервера, дата списания, цена и оценка лояльности.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95517" y="3474720"/>
            <a:ext cx="33375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696685" y="3621024"/>
            <a:ext cx="29352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02  </a:t>
            </a:r>
            <a:r>
              <a:rPr sz="1550" b="1">
                <a:solidFill>
                  <a:srgbClr val="182D48"/>
                </a:solidFill>
                <a:latin typeface="Exo 2"/>
              </a:rPr>
              <a:t>Объяснение на понятном языке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Точные причины риска: «на продление нужно 5,50 €, на балансе 3,00 €».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95517" y="4983480"/>
            <a:ext cx="33375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96685" y="5129784"/>
            <a:ext cx="29352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03  </a:t>
            </a:r>
            <a:r>
              <a:rPr sz="1550" b="1">
                <a:solidFill>
                  <a:srgbClr val="182D48"/>
                </a:solidFill>
                <a:latin typeface="Exo 2"/>
              </a:rPr>
              <a:t>Удержание в 1 клик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Автоподстановка услуги, суммы доплаты и промокода. Копирование и mailto:.</a:t>
            </a:r>
          </a:p>
        </p:txBody>
      </p:sp>
      <p:pic>
        <p:nvPicPr>
          <p:cNvPr id="14" name="Picture 13" descr="slide_em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8925" y="2029968"/>
            <a:ext cx="3035808" cy="4279392"/>
          </a:xfrm>
          <a:prstGeom prst="rect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10515600" y="640080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087DA5"/>
                </a:solidFill>
                <a:latin typeface="Exo 2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8952" y="475488"/>
            <a:ext cx="10744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087DA5"/>
                </a:solidFill>
                <a:latin typeface="Inter"/>
              </a:defRPr>
            </a:pPr>
            <a:r>
              <a:t>СТРАНИЦА 3 ИЗ 4 · НАСТРОЙКИ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786384"/>
            <a:ext cx="10744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182D48"/>
                </a:solidFill>
                <a:latin typeface="Exo 2"/>
              </a:defRPr>
            </a:pPr>
            <a:r>
              <a:t>Настройка модели: ползунки весов и пресеты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371600"/>
            <a:ext cx="10744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>
                <a:solidFill>
                  <a:srgbClr val="182D48"/>
                </a:solidFill>
                <a:latin typeface="Inter"/>
              </a:defRPr>
            </a:pPr>
            <a:r>
              <a:t>Маркетолог управляет приоритетами без разработчиков и без единой строчки кода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965960"/>
            <a:ext cx="35661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2112264"/>
            <a:ext cx="31638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01  </a:t>
            </a:r>
            <a:r>
              <a:rPr sz="1550" b="1">
                <a:solidFill>
                  <a:srgbClr val="182D48"/>
                </a:solidFill>
                <a:latin typeface="Exo 2"/>
              </a:rPr>
              <a:t>Интерактивные ползунки весов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Настройка веса каждого из 7 факторов с моментальным пересчётом без reload.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474720"/>
            <a:ext cx="35661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" y="3621024"/>
            <a:ext cx="31638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02  </a:t>
            </a:r>
            <a:r>
              <a:rPr sz="1550" b="1">
                <a:solidFill>
                  <a:srgbClr val="182D48"/>
                </a:solidFill>
                <a:latin typeface="Exo 2"/>
              </a:rPr>
              <a:t>Готовые бизнес-пресеты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«Сбалансированный», «Деньги важнее», «Срочность важнее» + сохранение своих.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983480"/>
            <a:ext cx="35661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5129784"/>
            <a:ext cx="31638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03  </a:t>
            </a:r>
            <a:r>
              <a:rPr sz="1550" b="1">
                <a:solidFill>
                  <a:srgbClr val="182D48"/>
                </a:solidFill>
                <a:latin typeface="Exo 2"/>
              </a:rPr>
              <a:t>No-Code конструктор факторов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Создание собственных правил проверки полей прямо через веб-панель.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087DA5"/>
                </a:solidFill>
                <a:latin typeface="Exo 2"/>
              </a:rPr>
              <a:t>06 / 09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3BDA81A-6D09-7537-C4B3-F0B206204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4192" y="1993392"/>
            <a:ext cx="6984039" cy="4279392"/>
          </a:xfrm>
          <a:prstGeom prst="rect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8952" y="475488"/>
            <a:ext cx="10744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087DA5"/>
                </a:solidFill>
                <a:latin typeface="Inter"/>
              </a:defRPr>
            </a:pPr>
            <a:r>
              <a:t>СТРАНИЦА 4 ИЗ 4 · УПРАВЛЕНИЕ ДАННЫМИ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786384"/>
            <a:ext cx="10744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500" b="1">
                <a:solidFill>
                  <a:srgbClr val="182D48"/>
                </a:solidFill>
                <a:latin typeface="Exo 2"/>
              </a:defRPr>
            </a:pPr>
            <a:r>
              <a:t>Данные и живая симуляция демо-событий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371600"/>
            <a:ext cx="10744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>
                <a:solidFill>
                  <a:srgbClr val="182D48"/>
                </a:solidFill>
                <a:latin typeface="Inter"/>
              </a:defRPr>
            </a:pPr>
            <a:r>
              <a:t>Загрузка снимков данных и проверка сценариев для любого клиента в реальном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965960"/>
            <a:ext cx="35661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2112264"/>
            <a:ext cx="31638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01  </a:t>
            </a:r>
            <a:r>
              <a:rPr sz="1550" b="1">
                <a:solidFill>
                  <a:srgbClr val="182D48"/>
                </a:solidFill>
                <a:latin typeface="Exo 2"/>
              </a:rPr>
              <a:t>Импорт снимка хостинга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Загрузка реального файла data.json через Drag-and-Drop с валидацией.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474720"/>
            <a:ext cx="35661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" y="3621024"/>
            <a:ext cx="31638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02  </a:t>
            </a:r>
            <a:r>
              <a:rPr sz="1550" b="1">
                <a:solidFill>
                  <a:srgbClr val="182D48"/>
                </a:solidFill>
                <a:latin typeface="Exo 2"/>
              </a:rPr>
              <a:t>Выбор любого ID клиента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Интерактивный селектор позволяет применить событие к любому аккаунту.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983480"/>
            <a:ext cx="3566160" cy="132588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DD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5129784"/>
            <a:ext cx="3163824" cy="1033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50" b="1">
                <a:solidFill>
                  <a:srgbClr val="087DA5"/>
                </a:solidFill>
                <a:latin typeface="Exo 2"/>
              </a:rPr>
              <a:t>03  </a:t>
            </a:r>
            <a:r>
              <a:rPr sz="1550" b="1">
                <a:solidFill>
                  <a:srgbClr val="182D48"/>
                </a:solidFill>
                <a:latin typeface="Exo 2"/>
              </a:rPr>
              <a:t>Кнопки управления событиями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82D48"/>
                </a:solidFill>
                <a:latin typeface="Inter"/>
              </a:rPr>
              <a:t>«Включить автопродление», «Списать/добавить 20 €», смена статусов активен/выключен.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087DA5"/>
                </a:solidFill>
                <a:latin typeface="Exo 2"/>
              </a:rPr>
              <a:t>07 / 09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932396A-795E-14BF-EF59-14A67DD34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704" y="1965960"/>
            <a:ext cx="7208391" cy="4343400"/>
          </a:xfrm>
          <a:prstGeom prst="rect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essage-surface">
            <a:extLst>
              <a:ext uri="{FF2B5EF4-FFF2-40B4-BE49-F238E27FC236}">
                <a16:creationId xmlns:a16="http://schemas.microsoft.com/office/drawing/2014/main" id="{36A88787-9916-45EF-A393-1B72B0DB7D8C}"/>
              </a:ext>
            </a:extLst>
          </p:cNvPr>
          <p:cNvSpPr>
            <a:spLocks noGrp="1"/>
          </p:cNvSpPr>
          <p:nvPr/>
        </p:nvSpPr>
        <p:spPr>
          <a:xfrm>
            <a:off x="5905500" y="3076575"/>
            <a:ext cx="5619750" cy="3209925"/>
          </a:xfrm>
          <a:prstGeom prst="roundRect">
            <a:avLst>
              <a:gd name="adj" fmla="val 7122"/>
            </a:avLst>
          </a:prstGeom>
          <a:solidFill>
            <a:srgbClr val="182D48"/>
          </a:solidFill>
          <a:ln w="0"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" name="solution-title">
            <a:extLst>
              <a:ext uri="{FF2B5EF4-FFF2-40B4-BE49-F238E27FC236}">
                <a16:creationId xmlns:a16="http://schemas.microsoft.com/office/drawing/2014/main" id="{380BD8CA-EA39-4374-A5B1-5DBA48934DF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10763250" cy="1333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39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39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39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39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39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39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39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39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39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39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3900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Задаёт вектор обращения</a:t>
            </a:r>
          </a:p>
          <a:p>
            <a:pPr>
              <a:buNone/>
              <a:defRPr sz="39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3900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и сокращает время реакции</a:t>
            </a:r>
          </a:p>
        </p:txBody>
      </p:sp>
      <p:sp>
        <p:nvSpPr>
          <p:cNvPr id="4" name="solution-description">
            <a:extLst>
              <a:ext uri="{FF2B5EF4-FFF2-40B4-BE49-F238E27FC236}">
                <a16:creationId xmlns:a16="http://schemas.microsoft.com/office/drawing/2014/main" id="{C6F09CCA-3A19-42A4-8205-5473AE3AA511}"/>
              </a:ext>
            </a:extLst>
          </p:cNvPr>
          <p:cNvSpPr>
            <a:spLocks noGrp="1"/>
          </p:cNvSpPr>
          <p:nvPr/>
        </p:nvSpPr>
        <p:spPr>
          <a:xfrm>
            <a:off x="762000" y="2057400"/>
            <a:ext cx="106680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1pPr>
            <a:lvl2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2pPr>
            <a:lvl3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3pPr>
            <a:lvl4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4pPr>
            <a:lvl5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5pPr>
            <a:lvl6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6pPr>
            <a:lvl7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7pPr>
            <a:lvl8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8pPr>
            <a:lvl9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2025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Risk Desk сопоставляет данные об оплате и услугах,</a:t>
            </a:r>
          </a:p>
          <a:p>
            <a: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2025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объясняет риск и готовит черновик сообщения</a:t>
            </a:r>
          </a:p>
        </p:txBody>
      </p:sp>
      <p:sp>
        <p:nvSpPr>
          <p:cNvPr id="5" name="demo-label">
            <a:extLst>
              <a:ext uri="{FF2B5EF4-FFF2-40B4-BE49-F238E27FC236}">
                <a16:creationId xmlns:a16="http://schemas.microsoft.com/office/drawing/2014/main" id="{7A2BF4B0-9D04-41A7-8982-2C896CAD1CDD}"/>
              </a:ext>
            </a:extLst>
          </p:cNvPr>
          <p:cNvSpPr>
            <a:spLocks noGrp="1"/>
          </p:cNvSpPr>
          <p:nvPr/>
        </p:nvSpPr>
        <p:spPr>
          <a:xfrm>
            <a:off x="762000" y="3228975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1800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1pPr>
            <a:lvl2pPr>
              <a:buNone/>
              <a:defRPr sz="1800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2pPr>
            <a:lvl3pPr>
              <a:buNone/>
              <a:defRPr sz="1800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3pPr>
            <a:lvl4pPr>
              <a:buNone/>
              <a:defRPr sz="1800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4pPr>
            <a:lvl5pPr>
              <a:buNone/>
              <a:defRPr sz="1800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5pPr>
            <a:lvl6pPr>
              <a:buNone/>
              <a:defRPr sz="1800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6pPr>
            <a:lvl7pPr>
              <a:buNone/>
              <a:defRPr sz="1800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7pPr>
            <a:lvl8pPr>
              <a:buNone/>
              <a:defRPr sz="1800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8pPr>
            <a:lvl9pPr>
              <a:buNone/>
              <a:defRPr sz="1800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buNone/>
              <a:defRPr sz="1800" b="1">
                <a:solidFill>
                  <a:srgbClr val="087DA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087DA5"/>
                </a:solidFill>
                <a:latin typeface="Inter"/>
                <a:ea typeface="Inter"/>
                <a:cs typeface="Inter"/>
              </a:rPr>
              <a:t>Демонстрационный пример</a:t>
            </a:r>
          </a:p>
        </p:txBody>
      </p:sp>
      <p:sp>
        <p:nvSpPr>
          <p:cNvPr id="6" name="gap">
            <a:extLst>
              <a:ext uri="{FF2B5EF4-FFF2-40B4-BE49-F238E27FC236}">
                <a16:creationId xmlns:a16="http://schemas.microsoft.com/office/drawing/2014/main" id="{1BE630EE-CA89-41E0-A95E-2460001B60CA}"/>
              </a:ext>
            </a:extLst>
          </p:cNvPr>
          <p:cNvSpPr>
            <a:spLocks noGrp="1"/>
          </p:cNvSpPr>
          <p:nvPr/>
        </p:nvSpPr>
        <p:spPr>
          <a:xfrm>
            <a:off x="723900" y="3743325"/>
            <a:ext cx="45720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5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5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5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5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5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5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5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5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5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525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5250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2,50 €</a:t>
            </a:r>
          </a:p>
        </p:txBody>
      </p:sp>
      <p:sp>
        <p:nvSpPr>
          <p:cNvPr id="7" name="gap-description">
            <a:extLst>
              <a:ext uri="{FF2B5EF4-FFF2-40B4-BE49-F238E27FC236}">
                <a16:creationId xmlns:a16="http://schemas.microsoft.com/office/drawing/2014/main" id="{0F8EFDA6-3A7D-4B0E-A74F-F5433CEAB28B}"/>
              </a:ext>
            </a:extLst>
          </p:cNvPr>
          <p:cNvSpPr>
            <a:spLocks noGrp="1"/>
          </p:cNvSpPr>
          <p:nvPr/>
        </p:nvSpPr>
        <p:spPr>
          <a:xfrm>
            <a:off x="762000" y="4667250"/>
            <a:ext cx="47625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1pPr>
            <a:lvl2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2pPr>
            <a:lvl3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3pPr>
            <a:lvl4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4pPr>
            <a:lvl5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5pPr>
            <a:lvl6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6pPr>
            <a:lvl7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7pPr>
            <a:lvl8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8pPr>
            <a:lvl9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2025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не хватает на продление</a:t>
            </a:r>
          </a:p>
        </p:txBody>
      </p:sp>
      <p:sp>
        <p:nvSpPr>
          <p:cNvPr id="8" name="demo-facts">
            <a:extLst>
              <a:ext uri="{FF2B5EF4-FFF2-40B4-BE49-F238E27FC236}">
                <a16:creationId xmlns:a16="http://schemas.microsoft.com/office/drawing/2014/main" id="{A33A86E3-7ECC-4576-BD0A-C36CE8EBCB48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4857750" cy="1000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1pPr>
            <a:lvl2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2pPr>
            <a:lvl3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3pPr>
            <a:lvl4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4pPr>
            <a:lvl5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5pPr>
            <a:lvl6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6pPr>
            <a:lvl7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7pPr>
            <a:lvl8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8pPr>
            <a:lvl9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1875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Через 2 дня платёж 5,50 €</a:t>
            </a:r>
          </a:p>
          <a:p>
            <a: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1875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На балансе 3,00 €</a:t>
            </a:r>
          </a:p>
          <a:p>
            <a:pPr>
              <a:buNone/>
              <a:defRPr sz="187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1875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Автопродление отключено</a:t>
            </a:r>
          </a:p>
        </p:txBody>
      </p:sp>
      <p:sp>
        <p:nvSpPr>
          <p:cNvPr id="9" name="draft-label">
            <a:extLst>
              <a:ext uri="{FF2B5EF4-FFF2-40B4-BE49-F238E27FC236}">
                <a16:creationId xmlns:a16="http://schemas.microsoft.com/office/drawing/2014/main" id="{B4C25625-F069-491B-A852-FCBF6F2DDD76}"/>
              </a:ext>
            </a:extLst>
          </p:cNvPr>
          <p:cNvSpPr>
            <a:spLocks noGrp="1"/>
          </p:cNvSpPr>
          <p:nvPr/>
        </p:nvSpPr>
        <p:spPr>
          <a:xfrm>
            <a:off x="6210300" y="3381375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1800" b="1">
                <a:solidFill>
                  <a:srgbClr val="4CC6F1"/>
                </a:solidFill>
                <a:latin typeface="Inter"/>
                <a:ea typeface="Inter"/>
                <a:cs typeface="Inter"/>
              </a:defRPr>
            </a:lvl1pPr>
            <a:lvl2pPr>
              <a:buNone/>
              <a:defRPr sz="1800" b="1">
                <a:solidFill>
                  <a:srgbClr val="4CC6F1"/>
                </a:solidFill>
                <a:latin typeface="Inter"/>
                <a:ea typeface="Inter"/>
                <a:cs typeface="Inter"/>
              </a:defRPr>
            </a:lvl2pPr>
            <a:lvl3pPr>
              <a:buNone/>
              <a:defRPr sz="1800" b="1">
                <a:solidFill>
                  <a:srgbClr val="4CC6F1"/>
                </a:solidFill>
                <a:latin typeface="Inter"/>
                <a:ea typeface="Inter"/>
                <a:cs typeface="Inter"/>
              </a:defRPr>
            </a:lvl3pPr>
            <a:lvl4pPr>
              <a:buNone/>
              <a:defRPr sz="1800" b="1">
                <a:solidFill>
                  <a:srgbClr val="4CC6F1"/>
                </a:solidFill>
                <a:latin typeface="Inter"/>
                <a:ea typeface="Inter"/>
                <a:cs typeface="Inter"/>
              </a:defRPr>
            </a:lvl4pPr>
            <a:lvl5pPr>
              <a:buNone/>
              <a:defRPr sz="1800" b="1">
                <a:solidFill>
                  <a:srgbClr val="4CC6F1"/>
                </a:solidFill>
                <a:latin typeface="Inter"/>
                <a:ea typeface="Inter"/>
                <a:cs typeface="Inter"/>
              </a:defRPr>
            </a:lvl5pPr>
            <a:lvl6pPr>
              <a:buNone/>
              <a:defRPr sz="1800" b="1">
                <a:solidFill>
                  <a:srgbClr val="4CC6F1"/>
                </a:solidFill>
                <a:latin typeface="Inter"/>
                <a:ea typeface="Inter"/>
                <a:cs typeface="Inter"/>
              </a:defRPr>
            </a:lvl6pPr>
            <a:lvl7pPr>
              <a:buNone/>
              <a:defRPr sz="1800" b="1">
                <a:solidFill>
                  <a:srgbClr val="4CC6F1"/>
                </a:solidFill>
                <a:latin typeface="Inter"/>
                <a:ea typeface="Inter"/>
                <a:cs typeface="Inter"/>
              </a:defRPr>
            </a:lvl7pPr>
            <a:lvl8pPr>
              <a:buNone/>
              <a:defRPr sz="1800" b="1">
                <a:solidFill>
                  <a:srgbClr val="4CC6F1"/>
                </a:solidFill>
                <a:latin typeface="Inter"/>
                <a:ea typeface="Inter"/>
                <a:cs typeface="Inter"/>
              </a:defRPr>
            </a:lvl8pPr>
            <a:lvl9pPr>
              <a:buNone/>
              <a:defRPr sz="1800" b="1">
                <a:solidFill>
                  <a:srgbClr val="4CC6F1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buNone/>
              <a:defRPr sz="1800" b="1">
                <a:solidFill>
                  <a:srgbClr val="4CC6F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4CC6F1"/>
                </a:solidFill>
                <a:latin typeface="Inter"/>
                <a:ea typeface="Inter"/>
                <a:cs typeface="Inter"/>
              </a:rPr>
              <a:t>Черновик обращения</a:t>
            </a:r>
          </a:p>
        </p:txBody>
      </p:sp>
      <p:sp>
        <p:nvSpPr>
          <p:cNvPr id="10" name="draft-message">
            <a:extLst>
              <a:ext uri="{FF2B5EF4-FFF2-40B4-BE49-F238E27FC236}">
                <a16:creationId xmlns:a16="http://schemas.microsoft.com/office/drawing/2014/main" id="{FD7A09CE-77AE-418D-A6AD-F8BD7D88FA6E}"/>
              </a:ext>
            </a:extLst>
          </p:cNvPr>
          <p:cNvSpPr>
            <a:spLocks noGrp="1"/>
          </p:cNvSpPr>
          <p:nvPr/>
        </p:nvSpPr>
        <p:spPr>
          <a:xfrm>
            <a:off x="6210300" y="4000500"/>
            <a:ext cx="5010150" cy="175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2100" b="0">
                <a:solidFill>
                  <a:srgbClr val="FFFFFF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2100" b="0">
                <a:solidFill>
                  <a:srgbClr val="FFFFFF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2100" b="0">
                <a:solidFill>
                  <a:srgbClr val="FFFFFF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2100" b="0">
                <a:solidFill>
                  <a:srgbClr val="FFFFFF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2100" b="0">
                <a:solidFill>
                  <a:srgbClr val="FFFFFF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2100" b="0">
                <a:solidFill>
                  <a:srgbClr val="FFFFFF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2100" b="0">
                <a:solidFill>
                  <a:srgbClr val="FFFFFF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2100" b="0">
                <a:solidFill>
                  <a:srgbClr val="FFFFFF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2100" b="0">
                <a:solidFill>
                  <a:srgbClr val="FFFFFF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2100" b="0">
                <a:solidFill>
                  <a:srgbClr val="FFFFFF"/>
                </a:solidFill>
                <a:latin typeface="Exo 2"/>
                <a:ea typeface="Exo 2"/>
                <a:cs typeface="Exo 2"/>
              </a:defRPr>
            </a:pPr>
            <a:r>
              <a:rPr sz="2100" b="0">
                <a:solidFill>
                  <a:srgbClr val="FFFFFF"/>
                </a:solidFill>
                <a:latin typeface="Exo 2"/>
                <a:ea typeface="Exo 2"/>
                <a:cs typeface="Exo 2"/>
              </a:rPr>
              <a:t>«До продления два дня.</a:t>
            </a:r>
          </a:p>
          <a:p>
            <a:pPr>
              <a:buNone/>
              <a:defRPr sz="2100" b="0">
                <a:solidFill>
                  <a:srgbClr val="FFFFFF"/>
                </a:solidFill>
                <a:latin typeface="Exo 2"/>
                <a:ea typeface="Exo 2"/>
                <a:cs typeface="Exo 2"/>
              </a:defRPr>
            </a:pPr>
            <a:r>
              <a:rPr sz="2100" b="0">
                <a:solidFill>
                  <a:srgbClr val="FFFFFF"/>
                </a:solidFill>
                <a:latin typeface="Exo 2"/>
                <a:ea typeface="Exo 2"/>
                <a:cs typeface="Exo 2"/>
              </a:rPr>
              <a:t>На оплату не хватает 2,50 €.</a:t>
            </a:r>
          </a:p>
          <a:p>
            <a:pPr>
              <a:buNone/>
              <a:defRPr sz="2100" b="0">
                <a:solidFill>
                  <a:srgbClr val="FFFFFF"/>
                </a:solidFill>
                <a:latin typeface="Exo 2"/>
                <a:ea typeface="Exo 2"/>
                <a:cs typeface="Exo 2"/>
              </a:defRPr>
            </a:pPr>
            <a:r>
              <a:rPr sz="2100" b="0">
                <a:solidFill>
                  <a:srgbClr val="FFFFFF"/>
                </a:solidFill>
                <a:latin typeface="Exo 2"/>
                <a:ea typeface="Exo 2"/>
                <a:cs typeface="Exo 2"/>
              </a:rPr>
              <a:t>Планируете продолжить</a:t>
            </a:r>
          </a:p>
          <a:p>
            <a:pPr>
              <a:buNone/>
              <a:defRPr sz="2100" b="0">
                <a:solidFill>
                  <a:srgbClr val="FFFFFF"/>
                </a:solidFill>
                <a:latin typeface="Exo 2"/>
                <a:ea typeface="Exo 2"/>
                <a:cs typeface="Exo 2"/>
              </a:defRPr>
            </a:pPr>
            <a:r>
              <a:rPr sz="2100" b="0">
                <a:solidFill>
                  <a:srgbClr val="FFFFFF"/>
                </a:solidFill>
                <a:latin typeface="Exo 2"/>
                <a:ea typeface="Exo 2"/>
                <a:cs typeface="Exo 2"/>
              </a:rPr>
              <a:t>пользоваться услугой?»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087DA5"/>
                </a:solidFill>
                <a:latin typeface="Exo 2"/>
              </a:rPr>
              <a:t>08 / 09</a:t>
            </a:r>
          </a:p>
        </p:txBody>
      </p:sp>
    </p:spTree>
    <p:extLst>
      <p:ext uri="{BB962C8B-B14F-4D97-AF65-F5344CB8AC3E}">
        <p14:creationId xmlns:p14="http://schemas.microsoft.com/office/powerpoint/2010/main" val="8370878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losing-product">
            <a:extLst>
              <a:ext uri="{FF2B5EF4-FFF2-40B4-BE49-F238E27FC236}">
                <a16:creationId xmlns:a16="http://schemas.microsoft.com/office/drawing/2014/main" id="{E1996708-564E-4B13-A0C8-0C9B8C3B3521}"/>
              </a:ext>
            </a:extLst>
          </p:cNvPr>
          <p:cNvSpPr>
            <a:spLocks noGrp="1"/>
          </p:cNvSpPr>
          <p:nvPr/>
        </p:nvSpPr>
        <p:spPr>
          <a:xfrm>
            <a:off x="762000" y="552450"/>
            <a:ext cx="6191250" cy="533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2700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2700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Risk Desk</a:t>
            </a:r>
          </a:p>
        </p:txBody>
      </p:sp>
      <p:sp>
        <p:nvSpPr>
          <p:cNvPr id="4" name="benefit-title">
            <a:extLst>
              <a:ext uri="{FF2B5EF4-FFF2-40B4-BE49-F238E27FC236}">
                <a16:creationId xmlns:a16="http://schemas.microsoft.com/office/drawing/2014/main" id="{C12FC1E1-7D56-4335-9C21-E2A8B7CA01CC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8191500" cy="1866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35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35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35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35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35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35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35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35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35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35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3525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Мы сокращаем путь</a:t>
            </a:r>
          </a:p>
          <a:p>
            <a:pPr>
              <a:buNone/>
              <a:defRPr sz="35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3525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между сигналом риска</a:t>
            </a:r>
          </a:p>
          <a:p>
            <a:pPr>
              <a:buNone/>
              <a:defRPr sz="35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3525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и обращением к клиенту</a:t>
            </a:r>
          </a:p>
        </p:txBody>
      </p:sp>
      <p:sp>
        <p:nvSpPr>
          <p:cNvPr id="5" name="human-control">
            <a:extLst>
              <a:ext uri="{FF2B5EF4-FFF2-40B4-BE49-F238E27FC236}">
                <a16:creationId xmlns:a16="http://schemas.microsoft.com/office/drawing/2014/main" id="{5CEFB3AA-6CF4-40DE-BB93-118B7880D627}"/>
              </a:ext>
            </a:extLst>
          </p:cNvPr>
          <p:cNvSpPr>
            <a:spLocks noGrp="1"/>
          </p:cNvSpPr>
          <p:nvPr/>
        </p:nvSpPr>
        <p:spPr>
          <a:xfrm>
            <a:off x="762000" y="4781550"/>
            <a:ext cx="7810500" cy="952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1pPr>
            <a:lvl2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2pPr>
            <a:lvl3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3pPr>
            <a:lvl4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4pPr>
            <a:lvl5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5pPr>
            <a:lvl6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6pPr>
            <a:lvl7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7pPr>
            <a:lvl8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8pPr>
            <a:lvl9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2025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Маркетолог открывает клиента уже с пониманием,</a:t>
            </a:r>
          </a:p>
          <a:p>
            <a:pPr>
              <a:buNone/>
              <a:defRPr sz="20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2025" b="0">
                <a:solidFill>
                  <a:srgbClr val="182D48"/>
                </a:solidFill>
                <a:latin typeface="Inter"/>
                <a:ea typeface="Inter"/>
                <a:cs typeface="Inter"/>
              </a:rPr>
              <a:t>что произошло и какой вопрос стоит задать.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029700" y="2381250"/>
            <a:ext cx="2400300" cy="2400300"/>
          </a:xfrm>
          <a:prstGeom prst="rect">
            <a:avLst/>
          </a:prstGeom>
        </p:spPr>
      </p:pic>
      <p:sp>
        <p:nvSpPr>
          <p:cNvPr id="7" name="repo-label">
            <a:extLst>
              <a:ext uri="{FF2B5EF4-FFF2-40B4-BE49-F238E27FC236}">
                <a16:creationId xmlns:a16="http://schemas.microsoft.com/office/drawing/2014/main" id="{7F3B5B94-3AB8-4D7F-962E-1965E163122F}"/>
              </a:ext>
            </a:extLst>
          </p:cNvPr>
          <p:cNvSpPr>
            <a:spLocks noGrp="1"/>
          </p:cNvSpPr>
          <p:nvPr/>
        </p:nvSpPr>
        <p:spPr>
          <a:xfrm>
            <a:off x="9182100" y="5114925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20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1pPr>
            <a:lvl2pPr>
              <a:buNone/>
              <a:defRPr sz="20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2pPr>
            <a:lvl3pPr>
              <a:buNone/>
              <a:defRPr sz="20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3pPr>
            <a:lvl4pPr>
              <a:buNone/>
              <a:defRPr sz="20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4pPr>
            <a:lvl5pPr>
              <a:buNone/>
              <a:defRPr sz="20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5pPr>
            <a:lvl6pPr>
              <a:buNone/>
              <a:defRPr sz="20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6pPr>
            <a:lvl7pPr>
              <a:buNone/>
              <a:defRPr sz="20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7pPr>
            <a:lvl8pPr>
              <a:buNone/>
              <a:defRPr sz="20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8pPr>
            <a:lvl9pPr>
              <a:buNone/>
              <a:defRPr sz="20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lvl9pPr>
          </a:lstStyle>
          <a:p>
            <a:pPr>
              <a:buNone/>
              <a:defRPr sz="2025" b="1">
                <a:solidFill>
                  <a:srgbClr val="182D48"/>
                </a:solidFill>
                <a:latin typeface="Exo 2"/>
                <a:ea typeface="Exo 2"/>
                <a:cs typeface="Exo 2"/>
              </a:defRPr>
            </a:pPr>
            <a:r>
              <a:rPr sz="2025" b="1">
                <a:solidFill>
                  <a:srgbClr val="182D48"/>
                </a:solidFill>
                <a:latin typeface="Exo 2"/>
                <a:ea typeface="Exo 2"/>
                <a:cs typeface="Exo 2"/>
              </a:rPr>
              <a:t>Код проекта</a:t>
            </a:r>
          </a:p>
        </p:txBody>
      </p:sp>
      <p:sp>
        <p:nvSpPr>
          <p:cNvPr id="8" name="repo-link">
            <a:extLst>
              <a:ext uri="{FF2B5EF4-FFF2-40B4-BE49-F238E27FC236}">
                <a16:creationId xmlns:a16="http://schemas.microsoft.com/office/drawing/2014/main" id="{4A003BFC-EE67-4238-9063-D343D3B2155D}"/>
              </a:ext>
            </a:extLst>
          </p:cNvPr>
          <p:cNvSpPr>
            <a:spLocks noGrp="1"/>
          </p:cNvSpPr>
          <p:nvPr/>
        </p:nvSpPr>
        <p:spPr>
          <a:xfrm>
            <a:off x="9182100" y="5600700"/>
            <a:ext cx="25717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lvl1pPr>
              <a:buNone/>
              <a:defRPr sz="17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1pPr>
            <a:lvl2pPr>
              <a:buNone/>
              <a:defRPr sz="17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2pPr>
            <a:lvl3pPr>
              <a:buNone/>
              <a:defRPr sz="17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3pPr>
            <a:lvl4pPr>
              <a:buNone/>
              <a:defRPr sz="17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4pPr>
            <a:lvl5pPr>
              <a:buNone/>
              <a:defRPr sz="17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5pPr>
            <a:lvl6pPr>
              <a:buNone/>
              <a:defRPr sz="17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6pPr>
            <a:lvl7pPr>
              <a:buNone/>
              <a:defRPr sz="17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7pPr>
            <a:lvl8pPr>
              <a:buNone/>
              <a:defRPr sz="17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8pPr>
            <a:lvl9pPr>
              <a:buNone/>
              <a:defRPr sz="17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buNone/>
              <a:defRPr sz="17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182D48"/>
                </a:solidFill>
                <a:latin typeface="Inter"/>
                <a:ea typeface="Inter"/>
                <a:cs typeface="Inter"/>
                <a:hlinkClick r:id="rId5"/>
              </a:rPr>
              <a:t>Demtory/</a:t>
            </a:r>
          </a:p>
          <a:p>
            <a:pPr>
              <a:buNone/>
              <a:defRPr sz="1725" b="0">
                <a:solidFill>
                  <a:srgbClr val="182D48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182D48"/>
                </a:solidFill>
                <a:latin typeface="Inter"/>
                <a:ea typeface="Inter"/>
                <a:cs typeface="Inter"/>
                <a:hlinkClick r:id="rId5"/>
              </a:rPr>
              <a:t>Hack23.10.26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200" b="1">
                <a:solidFill>
                  <a:srgbClr val="087DA5"/>
                </a:solidFill>
                <a:latin typeface="Exo 2"/>
              </a:rPr>
              <a:t>09 / 09</a:t>
            </a:r>
          </a:p>
        </p:txBody>
      </p:sp>
    </p:spTree>
    <p:extLst>
      <p:ext uri="{BB962C8B-B14F-4D97-AF65-F5344CB8AC3E}">
        <p14:creationId xmlns:p14="http://schemas.microsoft.com/office/powerpoint/2010/main" val="46631609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1106</Words>
  <Application>Microsoft Office PowerPoint</Application>
  <DocSecurity>0</DocSecurity>
  <PresentationFormat>Widescreen</PresentationFormat>
  <Paragraphs>115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Exo 2</vt:lpstr>
      <vt:lpstr>Inter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Роман Арефьев</cp:lastModifiedBy>
  <cp:revision>2</cp:revision>
  <dcterms:created xsi:type="dcterms:W3CDTF">2026-10-24T21:13:17Z</dcterms:created>
  <dcterms:modified xsi:type="dcterms:W3CDTF">2026-10-24T22:10:43Z</dcterms:modified>
</cp:coreProperties>
</file>