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5720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[0:00–0:18 | 24 слова]</a:t>
            </a:r>
          </a:p>
          <a:p>
            <a:endParaRPr/>
          </a:p>
          <a:p>
            <a:r>
              <a:t>«Здравствуйте! Наша команда представляет Risk Desk — рабочее место маркетолога хостинга. Мы отвечаем на три вопроса кейса: кому звонить сегодня, почему клиент уходит и сколько бизнес потеряет».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[0:18–0:50 | 42 слова]</a:t>
            </a:r>
          </a:p>
          <a:p>
            <a:endParaRPr/>
          </a:p>
          <a:p>
            <a:r>
              <a:t>«В хостинге обычный биллинг не спасает: когда сервер удалён — удерживать поздно. Отток нужно перехватывать раньше: когда услугу отключили (suspended) или она ждёт оплаты (prolong_wait). На нашем снимке под риском 67,53 евро. Система мгновенно выявляет критических клиентов».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[0:50–1:15 | 34 слова]</a:t>
            </a:r>
          </a:p>
          <a:p>
            <a:endParaRPr/>
          </a:p>
          <a:p>
            <a:r>
              <a:t>«Мы объединили все три ответа кейса на одном экране дашборда:</a:t>
            </a:r>
          </a:p>
          <a:p>
            <a:r>
              <a:t>Первое — рейтинг клиентов по уровню риска и срочности продления.</a:t>
            </a:r>
          </a:p>
          <a:p>
            <a:r>
              <a:t>Второе — понятная причина фразой, а не абстрактная цифра.</a:t>
            </a:r>
          </a:p>
          <a:p>
            <a:r>
              <a:t>Третье — точная денежная оценка по ближайшим платежам».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[1:15–1:40 | 32 слова]</a:t>
            </a:r>
          </a:p>
          <a:p>
            <a:endParaRPr/>
          </a:p>
          <a:p>
            <a:r>
              <a:t>«Главное — аналитика сразу переходит в действие. По клику на клиента открывается персонализированный драфт письма: система сама подставляет услугу, сумму к доплате и промокод. Маркетолог удерживает клиента в один клик».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[1:40–2:10 | 44 слова]</a:t>
            </a:r>
          </a:p>
          <a:p>
            <a:endParaRPr/>
          </a:p>
          <a:p>
            <a:r>
              <a:t>«Почему не машинное обучение? В исходных данных нет истории и меток оттока. Обучать ML на десяти строках — это самообман.</a:t>
            </a:r>
          </a:p>
          <a:p>
            <a:r>
              <a:t>Мы применили прозрачную модель из семи признаков. Маркетолог может сам менять их веса в интерфейсе, а потери считаются от реального платежа за услугу».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[2:10–2:35 | 35 слов]</a:t>
            </a:r>
          </a:p>
          <a:p>
            <a:endParaRPr/>
          </a:p>
          <a:p>
            <a:r>
              <a:t>«Сервис полностью готов. Вы можете развернуть и проверить его прямо сейчас одной командой docker compose up. В проекте 449 бэкенд-тестов и браузерные E2E тесты. База данных оптимизирована под 10 000 клиентов, подключены Swagger, Prometheus и корпоративный SSO».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[2:35–2:50 | 18 слов]</a:t>
            </a:r>
          </a:p>
          <a:p>
            <a:endParaRPr/>
          </a:p>
          <a:p>
            <a:r>
              <a:t>«Инструкция по запуску — в файле JURY.md. Спасибо за внимание, мы готовы ответить на вопросы и показать работу системы».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aez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731520"/>
            <a:ext cx="2011680" cy="6437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15087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82D48"/>
                </a:solidFill>
                <a:latin typeface="Exo 2"/>
              </a:rPr>
              <a:t>ХАКАТОН РНД · УРОВЕНЬ MIDDLE · КЕЙС AÉZA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100584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600" b="1">
                <a:solidFill>
                  <a:srgbClr val="000000"/>
                </a:solidFill>
                <a:latin typeface="Exo 2"/>
              </a:rPr>
              <a:t>ОТТОК · Risk Desk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82D48"/>
                </a:solidFill>
                <a:latin typeface="Exo 2"/>
              </a:rPr>
              <a:t>Кому звонить сегодня, почему и что сказать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51960"/>
            <a:ext cx="1645920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4526280"/>
            <a:ext cx="8412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82D48"/>
                </a:solidFill>
                <a:latin typeface="Inter"/>
              </a:rPr>
              <a:t>Панель маркетолога облачного хостинга: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82D48"/>
                </a:solidFill>
                <a:latin typeface="Inter"/>
              </a:rPr>
              <a:t>Анализ биллинга  →  Приоритет клиентов  →  Спасение в 1 клик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8978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FastAPI · React 18 · SQLite WAL · Docker Compose · 449 тестов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77095" y="4069080"/>
            <a:ext cx="17373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8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qr-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4255" y="4206240"/>
            <a:ext cx="1463040" cy="1463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22815" y="5806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GitHub проекта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02 /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СПЕЦИФИКА ХОСТИНГА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Удалённый сервер вернуть нельзя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585216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Сервер удалён = клиент потерян. </a:t>
            </a:r>
            <a:r>
              <a:rPr sz="1700" b="0">
                <a:solidFill>
                  <a:srgbClr val="000000"/>
                </a:solidFill>
                <a:latin typeface="Inter"/>
              </a:rPr>
              <a:t>Спасать нужно ДО безвозвратного удаления данных.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Точки перехвата оттока: </a:t>
            </a:r>
            <a:r>
              <a:rPr sz="1700" b="0">
                <a:solidFill>
                  <a:srgbClr val="000000"/>
                </a:solidFill>
                <a:latin typeface="Inter"/>
              </a:rPr>
              <a:t>suspended (выключил, но платит) и prolong_wait (5 дней до удаления).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Проблема маркетолога: </a:t>
            </a:r>
            <a:r>
              <a:rPr sz="1700" b="0">
                <a:solidFill>
                  <a:srgbClr val="000000"/>
                </a:solidFill>
                <a:latin typeface="Inter"/>
              </a:rPr>
              <a:t>в логах тысячи строк, но нет чёткого приоритета, кому звонить первым.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Наша цель: </a:t>
            </a:r>
            <a:r>
              <a:rPr sz="1700" b="0">
                <a:solidFill>
                  <a:srgbClr val="000000"/>
                </a:solidFill>
                <a:latin typeface="Inter"/>
              </a:rPr>
              <a:t>превратить сухие статусы в конкретные деньги и немедленное действие.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2103120"/>
            <a:ext cx="4206240" cy="11430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06640" y="2212848"/>
            <a:ext cx="3749039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000000"/>
                </a:solidFill>
                <a:latin typeface="Exo 2"/>
              </a:rPr>
              <a:t>67,53 €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761487"/>
            <a:ext cx="3749039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82D48"/>
                </a:solidFill>
                <a:latin typeface="Inter"/>
              </a:rPr>
              <a:t>платежей под угрозой на демо-снимке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3401568"/>
            <a:ext cx="4206240" cy="11430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3511296"/>
            <a:ext cx="3749039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97C35"/>
                </a:solidFill>
                <a:latin typeface="Exo 2"/>
              </a:rPr>
              <a:t>3 из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059935"/>
            <a:ext cx="3749039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82D48"/>
                </a:solidFill>
                <a:latin typeface="Inter"/>
              </a:rPr>
              <a:t>клиентов требуют срочного внимания (Score ≥ 70)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4700016"/>
            <a:ext cx="4206240" cy="1143000"/>
          </a:xfrm>
          <a:prstGeom prst="roundRect">
            <a:avLst>
              <a:gd name="adj" fmla="val 6000"/>
            </a:avLst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06640" y="4809744"/>
            <a:ext cx="3749039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4CC6F1"/>
                </a:solidFill>
                <a:latin typeface="Exo 2"/>
              </a:rPr>
              <a:t>5 дней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5358383"/>
            <a:ext cx="3749039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окно спасения в prolong_wait до стирания сервера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03 /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РЕШЕНИЕ КЕЙСА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Три ответа ТЗ — один рабочий экран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7772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4CC6F1"/>
                </a:solidFill>
                <a:latin typeface="Exo 2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130552"/>
            <a:ext cx="41148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Exo 2"/>
              </a:rPr>
              <a:t>Кому звонить: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1460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Рейтинг по Risk Score и срочности (до 7 дней). Сортировка и экспорт CSV.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7772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4CC6F1"/>
                </a:solidFill>
                <a:latin typeface="Exo 2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410712"/>
            <a:ext cx="41148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Exo 2"/>
              </a:rPr>
              <a:t>Почему уходит: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79476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Причина человеческим языком: «На продление нужно 5,50 €, на балансе 3,00 €».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709160"/>
            <a:ext cx="7772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4CC6F1"/>
                </a:solidFill>
                <a:latin typeface="Exo 2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690872"/>
            <a:ext cx="41148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Exo 2"/>
              </a:rPr>
              <a:t>Сколько теряем: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507492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Точная денежная оценка по ближайшим платежам за услуги с учётом баланса.</a:t>
            </a:r>
          </a:p>
        </p:txBody>
      </p:sp>
      <p:pic>
        <p:nvPicPr>
          <p:cNvPr id="19" name="Picture 18" descr="dashboard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057400"/>
            <a:ext cx="5623560" cy="3592830"/>
          </a:xfrm>
          <a:prstGeom prst="rect">
            <a:avLst/>
          </a:prstGeom>
          <a:ln w="1905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04 /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ДЕЙСТВИЕ И RETENTION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6400800" cy="11680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 dirty="0" err="1">
                <a:solidFill>
                  <a:srgbClr val="000000"/>
                </a:solidFill>
                <a:latin typeface="Exo 2"/>
              </a:rPr>
              <a:t>От</a:t>
            </a:r>
            <a:r>
              <a:rPr sz="3400" b="1" dirty="0">
                <a:solidFill>
                  <a:srgbClr val="000000"/>
                </a:solidFill>
                <a:latin typeface="Exo 2"/>
              </a:rPr>
              <a:t> </a:t>
            </a:r>
            <a:r>
              <a:rPr sz="3400" b="1" dirty="0" err="1">
                <a:solidFill>
                  <a:srgbClr val="000000"/>
                </a:solidFill>
                <a:latin typeface="Exo 2"/>
              </a:rPr>
              <a:t>анализа</a:t>
            </a:r>
            <a:r>
              <a:rPr sz="3400" b="1" dirty="0">
                <a:solidFill>
                  <a:srgbClr val="000000"/>
                </a:solidFill>
                <a:latin typeface="Exo 2"/>
              </a:rPr>
              <a:t> к </a:t>
            </a:r>
            <a:r>
              <a:rPr sz="3400" b="1" dirty="0" err="1">
                <a:solidFill>
                  <a:srgbClr val="000000"/>
                </a:solidFill>
                <a:latin typeface="Exo 2"/>
              </a:rPr>
              <a:t>действию</a:t>
            </a:r>
            <a:r>
              <a:rPr sz="3400" b="1" dirty="0">
                <a:solidFill>
                  <a:srgbClr val="000000"/>
                </a:solidFill>
                <a:latin typeface="Exo 2"/>
              </a:rPr>
              <a:t>: </a:t>
            </a:r>
            <a:r>
              <a:rPr sz="3400" b="1" dirty="0" err="1">
                <a:solidFill>
                  <a:srgbClr val="000000"/>
                </a:solidFill>
                <a:latin typeface="Exo 2"/>
              </a:rPr>
              <a:t>удержание</a:t>
            </a:r>
            <a:r>
              <a:rPr sz="3400" b="1" dirty="0">
                <a:solidFill>
                  <a:srgbClr val="000000"/>
                </a:solidFill>
                <a:latin typeface="Exo 2"/>
              </a:rPr>
              <a:t> в 1 </a:t>
            </a:r>
            <a:r>
              <a:rPr sz="3400" b="1" dirty="0" err="1">
                <a:solidFill>
                  <a:srgbClr val="000000"/>
                </a:solidFill>
                <a:latin typeface="Exo 2"/>
              </a:rPr>
              <a:t>клик</a:t>
            </a:r>
            <a:endParaRPr sz="3400" b="1" dirty="0">
              <a:solidFill>
                <a:srgbClr val="000000"/>
              </a:solidFill>
              <a:latin typeface="Exo 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77240" y="2001358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585216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 dirty="0">
                <a:solidFill>
                  <a:srgbClr val="4CC6F1"/>
                </a:solidFill>
                <a:latin typeface="Exo 2"/>
              </a:rPr>
              <a:t>— 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Маркетолог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не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тратит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время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на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рутину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: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система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сама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формирует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контекст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обращения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 dirty="0">
                <a:solidFill>
                  <a:srgbClr val="4CC6F1"/>
                </a:solidFill>
                <a:latin typeface="Exo 2"/>
              </a:rPr>
              <a:t>—  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7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готовых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сценариев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удержания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: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от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нехватки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денег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до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зависшей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оплаты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и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блокировки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 dirty="0">
                <a:solidFill>
                  <a:srgbClr val="4CC6F1"/>
                </a:solidFill>
                <a:latin typeface="Exo 2"/>
              </a:rPr>
              <a:t>— 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Умная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автоподстановка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: 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в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письмо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подставляются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имя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,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название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сервера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,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сумма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доплаты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и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промокод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 dirty="0">
                <a:solidFill>
                  <a:srgbClr val="4CC6F1"/>
                </a:solidFill>
                <a:latin typeface="Exo 2"/>
              </a:rPr>
              <a:t>—  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Мгновенное </a:t>
            </a:r>
            <a:r>
              <a:rPr sz="1700" b="1" dirty="0" err="1">
                <a:solidFill>
                  <a:srgbClr val="000000"/>
                </a:solidFill>
                <a:latin typeface="Exo 2"/>
              </a:rPr>
              <a:t>действие</a:t>
            </a:r>
            <a:r>
              <a:rPr sz="1700" b="1" dirty="0">
                <a:solidFill>
                  <a:srgbClr val="000000"/>
                </a:solidFill>
                <a:latin typeface="Exo 2"/>
              </a:rPr>
              <a:t>: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копирование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текста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в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один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клик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или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прямая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ссылка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mailto: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для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 </a:t>
            </a:r>
            <a:r>
              <a:rPr sz="1700" b="0" dirty="0" err="1">
                <a:solidFill>
                  <a:srgbClr val="000000"/>
                </a:solidFill>
                <a:latin typeface="Inter"/>
              </a:rPr>
              <a:t>отправки</a:t>
            </a:r>
            <a:r>
              <a:rPr sz="1700" b="0" dirty="0">
                <a:solidFill>
                  <a:srgbClr val="000000"/>
                </a:solidFill>
                <a:latin typeface="Inter"/>
              </a:rPr>
              <a:t>.</a:t>
            </a:r>
          </a:p>
        </p:txBody>
      </p:sp>
      <p:pic>
        <p:nvPicPr>
          <p:cNvPr id="11" name="Picture 10" descr="email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474835"/>
            <a:ext cx="4206240" cy="5633357"/>
          </a:xfrm>
          <a:prstGeom prst="rect">
            <a:avLst/>
          </a:prstGeom>
          <a:ln w="1905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05 /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МЕТОДОЛОГИЯ И ЧЕСТНОСТЬ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Прозрачные правила вместо чёрного ящика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7 ПРИЗНАКОВ И ВЕСА (НАСТРАИВАЮТСЯ В ПАНЕЛИ БЕЗ КОДА)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Срочность продления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423160"/>
            <a:ext cx="548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0,40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80720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11880" y="24231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Нехватка баланса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2423160"/>
            <a:ext cx="548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80720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01752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Автопродление 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017520"/>
            <a:ext cx="548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40156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11880" y="301752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Статус prolong / susp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3017520"/>
            <a:ext cx="548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340156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36118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История неоплат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611880"/>
            <a:ext cx="548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99592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11880" y="361188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Лояльность / стаж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3611880"/>
            <a:ext cx="5486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11880" y="399592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77240" y="4297680"/>
            <a:ext cx="5303520" cy="16916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443484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РАСЧЁТ ДЕНЕГ ПОД РИСКОМ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754880"/>
            <a:ext cx="48463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Exo 2"/>
              </a:rPr>
              <a:t>Потери = P(score) × price × (1 − 0,5 × баланс)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212080"/>
            <a:ext cx="48463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Считаем от цены продления услуги (price), а не из случайных сумм транзакций. Баланс гасит риск максимум наполовину: деньги есть, но сервер могут не продлить.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2057400"/>
            <a:ext cx="4663440" cy="3931920"/>
          </a:xfrm>
          <a:prstGeom prst="roundRect">
            <a:avLst>
              <a:gd name="adj" fmla="val 6000"/>
            </a:avLst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49440" y="233172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ПОЧЕМУ НЕ ML?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834640"/>
            <a:ext cx="411480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4CC6F1"/>
                </a:solidFill>
                <a:latin typeface="Exo 2"/>
              </a:rPr>
              <a:t>—  </a:t>
            </a:r>
            <a:r>
              <a:rPr sz="1300" b="1">
                <a:solidFill>
                  <a:srgbClr val="FFFFFF"/>
                </a:solidFill>
                <a:latin typeface="Exo 2"/>
              </a:rPr>
              <a:t>0 меток оттока и 0 истории: </a:t>
            </a:r>
            <a:r>
              <a:rPr sz="1300" b="0">
                <a:solidFill>
                  <a:srgbClr val="FFFFFF"/>
                </a:solidFill>
                <a:latin typeface="Inter"/>
              </a:rPr>
              <a:t>в данных нет исходов — обучать ML не на чем.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4CC6F1"/>
                </a:solidFill>
                <a:latin typeface="Exo 2"/>
              </a:rPr>
              <a:t>—  </a:t>
            </a:r>
            <a:r>
              <a:rPr sz="1300" b="1">
                <a:solidFill>
                  <a:srgbClr val="FFFFFF"/>
                </a:solidFill>
                <a:latin typeface="Exo 2"/>
              </a:rPr>
              <a:t>ML на 10 строках — самообман: </a:t>
            </a:r>
            <a:r>
              <a:rPr sz="1300" b="0">
                <a:solidFill>
                  <a:srgbClr val="FFFFFF"/>
                </a:solidFill>
                <a:latin typeface="Inter"/>
              </a:rPr>
              <a:t>модель просто заучит шум и выдаст ложные цифры.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4CC6F1"/>
                </a:solidFill>
                <a:latin typeface="Exo 2"/>
              </a:rPr>
              <a:t>—  </a:t>
            </a:r>
            <a:r>
              <a:rPr sz="1300" b="1">
                <a:solidFill>
                  <a:srgbClr val="FFFFFF"/>
                </a:solidFill>
                <a:latin typeface="Exo 2"/>
              </a:rPr>
              <a:t>Полная прозрачность: </a:t>
            </a:r>
            <a:r>
              <a:rPr sz="1300" b="0">
                <a:solidFill>
                  <a:srgbClr val="FFFFFF"/>
                </a:solidFill>
                <a:latin typeface="Inter"/>
              </a:rPr>
              <a:t>маркетолог понимает каждый балл и меняет веса в UI.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4CC6F1"/>
                </a:solidFill>
                <a:latin typeface="Exo 2"/>
              </a:rPr>
              <a:t>—  </a:t>
            </a:r>
            <a:r>
              <a:rPr sz="1300" b="1">
                <a:solidFill>
                  <a:srgbClr val="FFFFFF"/>
                </a:solidFill>
                <a:latin typeface="Exo 2"/>
              </a:rPr>
              <a:t>Калибровка без смены кода: </a:t>
            </a:r>
            <a:r>
              <a:rPr sz="1300" b="0">
                <a:solidFill>
                  <a:srgbClr val="FFFFFF"/>
                </a:solidFill>
                <a:latin typeface="Inter"/>
              </a:rPr>
              <a:t>появится история — модель откалибруется моментально.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06 /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ИНЖЕНЕРИЯ И ПРОД-ГОТОВНОСТЬ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Готов к бою: одна команда запуска и 449 тестов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77240" y="2103120"/>
            <a:ext cx="2423160" cy="141732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240280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1 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21488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docker compose up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готов за секунды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7288" y="2103120"/>
            <a:ext cx="2423160" cy="141732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0168" y="2240280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Exo 2"/>
              </a:rPr>
              <a:t>449 тестов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2743200"/>
            <a:ext cx="21488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backend + Playwright e2e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100% зелёный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17336" y="2103120"/>
            <a:ext cx="2423160" cy="141732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0216" y="2240280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Exo 2"/>
              </a:rPr>
              <a:t>3,1 сек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743200"/>
            <a:ext cx="21488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на 10 000 клиентов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p95 чтения 24 мс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87384" y="2103120"/>
            <a:ext cx="2423160" cy="141732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70263" y="2240280"/>
            <a:ext cx="2148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182D48"/>
                </a:solidFill>
                <a:latin typeface="Exo 2"/>
              </a:rPr>
              <a:t>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0263" y="2743200"/>
            <a:ext cx="21488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Prometheus /metrics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Swagger + Keycloak SSO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794760"/>
            <a:ext cx="60350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Воспроизводимость: </a:t>
            </a:r>
            <a:r>
              <a:rPr sz="1400" b="0">
                <a:solidFill>
                  <a:srgbClr val="000000"/>
                </a:solidFill>
                <a:latin typeface="Inter"/>
              </a:rPr>
              <a:t>жюри разворачивает стенд одной строкой из docs/JURY.md.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SQLite WAL: </a:t>
            </a:r>
            <a:r>
              <a:rPr sz="1400" b="0">
                <a:solidFill>
                  <a:srgbClr val="000000"/>
                </a:solidFill>
                <a:latin typeface="Inter"/>
              </a:rPr>
              <a:t>высокая скорость, устойчивость к сбоям, данные сохраняются.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Реальное время: </a:t>
            </a:r>
            <a:r>
              <a:rPr sz="1400" b="0">
                <a:solidFill>
                  <a:srgbClr val="000000"/>
                </a:solidFill>
                <a:latin typeface="Inter"/>
              </a:rPr>
              <a:t>SSE-стриминг мгновенно обновляет дашборд при смене данных.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Безопасность: </a:t>
            </a:r>
            <a:r>
              <a:rPr sz="1400" b="0">
                <a:solidFill>
                  <a:srgbClr val="000000"/>
                </a:solidFill>
                <a:latin typeface="Inter"/>
              </a:rPr>
              <a:t>сессии HttpOnly, защита от перебора PBKDF2, OIDC с PKCE.</a:t>
            </a:r>
          </a:p>
        </p:txBody>
      </p:sp>
      <p:pic>
        <p:nvPicPr>
          <p:cNvPr id="23" name="Picture 22" descr="11-login-s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3749039"/>
            <a:ext cx="3931920" cy="2457450"/>
          </a:xfrm>
          <a:prstGeom prst="rect">
            <a:avLst/>
          </a:prstGeom>
          <a:ln w="1905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07 /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ИТОГ И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ОТТОК · Risk Desk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77240" y="20574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8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22860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РЕЗУЛЬТАТ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43200"/>
            <a:ext cx="466344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100% покрытие ТЗ: </a:t>
            </a:r>
            <a:r>
              <a:rPr sz="1400" b="0">
                <a:solidFill>
                  <a:srgbClr val="000000"/>
                </a:solidFill>
                <a:latin typeface="Inter"/>
              </a:rPr>
              <a:t>все три вопроса кейса закрыты в одном окне.</a:t>
            </a:r>
          </a:p>
          <a:p>
            <a:pPr marL="320040" indent="-320040"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Retention в 1 клик: </a:t>
            </a:r>
            <a:r>
              <a:rPr sz="1400" b="0">
                <a:solidFill>
                  <a:srgbClr val="000000"/>
                </a:solidFill>
                <a:latin typeface="Inter"/>
              </a:rPr>
              <a:t>персональный драфт письма клиенту с промокодом.</a:t>
            </a:r>
          </a:p>
          <a:p>
            <a:pPr marL="320040" indent="-320040"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Прогноз оттока во времени: </a:t>
            </a:r>
            <a:r>
              <a:rPr sz="1400" b="0">
                <a:solidFill>
                  <a:srgbClr val="000000"/>
                </a:solidFill>
                <a:latin typeface="Inter"/>
              </a:rPr>
              <a:t>факт просрочек и прогноз на 30 дней с CSV.</a:t>
            </a:r>
          </a:p>
          <a:p>
            <a:pPr marL="320040" indent="-320040"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449 автотестов: </a:t>
            </a:r>
            <a:r>
              <a:rPr sz="1400" b="0">
                <a:solidFill>
                  <a:srgbClr val="000000"/>
                </a:solidFill>
                <a:latin typeface="Inter"/>
              </a:rPr>
              <a:t>гарантия надёжности математики и API контрактов.</a:t>
            </a:r>
          </a:p>
          <a:p>
            <a:pPr marL="320040" indent="-320040"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Готов к интеграции: </a:t>
            </a:r>
            <a:r>
              <a:rPr sz="1400" b="0">
                <a:solidFill>
                  <a:srgbClr val="000000"/>
                </a:solidFill>
                <a:latin typeface="Inter"/>
              </a:rPr>
              <a:t>Swagger, Prometheus и Keycloak SSO из коробки.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057400"/>
            <a:ext cx="4663440" cy="4023360"/>
          </a:xfrm>
          <a:prstGeom prst="roundRect">
            <a:avLst>
              <a:gd name="adj" fmla="val 6000"/>
            </a:avLst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0" y="228600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ГОТОВЫ К ВОПРОСАМ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697480"/>
            <a:ext cx="4114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Прямая ссылка на GitHub (код, тесты, docs/JURY.md):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3108960"/>
            <a:ext cx="21031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qr-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3200400"/>
            <a:ext cx="1920240" cy="1920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235440" y="3154680"/>
            <a:ext cx="19202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СКАН ДЛЯ ЖЮРИ: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1050" b="1">
              <a:solidFill>
                <a:srgbClr val="FFFFFF"/>
              </a:solidFill>
              <a:latin typeface="Exo 2"/>
            </a:endParaR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docker compose up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1050" b="1">
              <a:solidFill>
                <a:srgbClr val="FFFFFF"/>
              </a:solidFill>
              <a:latin typeface="Exo 2"/>
            </a:endParaR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Swagger API: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/api/v1/docs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1050" b="1">
              <a:solidFill>
                <a:srgbClr val="FFFFFF"/>
              </a:solidFill>
              <a:latin typeface="Exo 2"/>
            </a:endParaR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Prometheus: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/metrics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endParaRPr sz="1050" b="1">
              <a:solidFill>
                <a:srgbClr val="FFFFFF"/>
              </a:solidFill>
              <a:latin typeface="Exo 2"/>
            </a:endParaR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Вход: admin /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3949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CC6F1"/>
                </a:solidFill>
                <a:latin typeface="Exo 2"/>
              </a:rPr>
              <a:t>github.com/Demtory/Hack23.10.26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1059</Words>
  <Application>Microsoft Office PowerPoint</Application>
  <PresentationFormat>Widescreen</PresentationFormat>
  <Paragraphs>136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Exo 2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Роман Арефьев</cp:lastModifiedBy>
  <cp:revision>2</cp:revision>
  <dcterms:created xsi:type="dcterms:W3CDTF">2013-01-27T09:14:16Z</dcterms:created>
  <dcterms:modified xsi:type="dcterms:W3CDTF">2026-10-24T19:15:09Z</dcterms:modified>
  <cp:category/>
</cp:coreProperties>
</file>