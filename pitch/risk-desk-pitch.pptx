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[0:00–0:18 | 24 слова]</a:t>
            </a:r>
          </a:p>
          <a:p/>
          <a:p>
            <a:r>
              <a:t>«Здравствуйте! Наша команда представляет Risk Desk — рабочее место маркетолога хостинга. Мы отвечаем на три вопроса кейса: кому звонить сегодня, почему клиент уходит и сколько бизнес потеряет».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[0:18–0:50 | 42 слова]</a:t>
            </a:r>
          </a:p>
          <a:p/>
          <a:p>
            <a:r>
              <a:t>«В хостинге обычный биллинг не спасает: когда сервер удалён — удерживать поздно. Отток нужно перехватывать раньше: когда услугу отключили (suspended) или она ждёт оплаты (prolong_wait). На нашем снимке под риском 67,53 евро. Система мгновенно выявляет критических клиентов».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[0:50–1:15 | 34 слова]</a:t>
            </a:r>
          </a:p>
          <a:p/>
          <a:p>
            <a:r>
              <a:t>«Мы объединили все три ответа кейса на одном экране дашборда:</a:t>
            </a:r>
          </a:p>
          <a:p>
            <a:r>
              <a:t>Первое — рейтинг клиентов по уровню риска и срочности продления.</a:t>
            </a:r>
          </a:p>
          <a:p>
            <a:r>
              <a:t>Второе — понятная причина фразой, а не абстрактная цифра.</a:t>
            </a:r>
          </a:p>
          <a:p>
            <a:r>
              <a:t>Третье — точная денежная оценка по ближайшим платежам».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[1:15–1:40 | 32 слова]</a:t>
            </a:r>
          </a:p>
          <a:p/>
          <a:p>
            <a:r>
              <a:t>«Главное — аналитика сразу переходит в действие. По клику на клиента открывается персонализированный драфт письма: система сама подставляет услугу, сумму к доплате и промокод. Маркетолог удерживает клиента в один клик».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[1:40–2:10 | 44 слова]</a:t>
            </a:r>
          </a:p>
          <a:p/>
          <a:p>
            <a:r>
              <a:t>«Почему не машинное обучение? В исходных данных нет истории и меток оттока. Обучать ML на десяти строках — это самообман.</a:t>
            </a:r>
          </a:p>
          <a:p>
            <a:r>
              <a:t>Мы применили прозрачную модель из семи признаков. Маркетолог может сам менять их веса в интерфейсе, а потери считаются от реального платежа за услугу».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[2:10–2:35 | 35 слов]</a:t>
            </a:r>
          </a:p>
          <a:p/>
          <a:p>
            <a:r>
              <a:t>«Сервис полностью готов. Вы можете развернуть и проверить его прямо сейчас одной командой docker compose up. В проекте 449 бэкенд-тестов и браузерные E2E тесты. База данных оптимизирована под 10 000 клиентов, подключены Swagger, Prometheus и корпоративный SSO».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[2:35–2:50 | 18 слов]</a:t>
            </a:r>
          </a:p>
          <a:p/>
          <a:p>
            <a:r>
              <a:t>«Инструкция по запуску — в файле JURY.md. Спасибо за внимание, мы готовы ответить на вопросы и показать работу системы».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[2:50–3:00 | 15 слов]</a:t>
            </a:r>
          </a:p>
          <a:p/>
          <a:p>
            <a:r>
              <a:t>«Вот QR: сканируете — панель открывается сразу, без пароля и Docker. Это тот же код, что в репозитории, просто уже развёрнутый».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ez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731520"/>
            <a:ext cx="2011680" cy="6437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15087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82D48"/>
                </a:solidFill>
                <a:latin typeface="Exo 2"/>
              </a:rPr>
              <a:t>ХАКАТОН РНД · УРОВЕНЬ MIDDLE · КЕЙС AÉZA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6596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600" b="1">
                <a:solidFill>
                  <a:srgbClr val="000000"/>
                </a:solidFill>
                <a:latin typeface="Exo 2"/>
              </a:rPr>
              <a:t>ОТТОК · Risk Desk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2918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182D48"/>
                </a:solidFill>
                <a:latin typeface="Exo 2"/>
              </a:rPr>
              <a:t>Кому звонить сегодня, почему и что сказать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51960"/>
            <a:ext cx="1645920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526280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82D48"/>
                </a:solidFill>
                <a:latin typeface="Inter"/>
              </a:rPr>
              <a:t>Панель маркетолога облачного хостинга: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82D48"/>
                </a:solidFill>
                <a:latin typeface="Inter"/>
              </a:rPr>
              <a:t>Анализ биллинга  →  Приоритет клиентов  →  Спасение в 1 клик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58978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FastAPI · React 18 · SQLite WAL · Docker Compose · 449 тестов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77095" y="4069080"/>
            <a:ext cx="17373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8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-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4255" y="4206240"/>
            <a:ext cx="1463040" cy="1463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22815" y="580644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GitHub проекта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19088"/>
            <a:ext cx="10637215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55664"/>
            <a:ext cx="201168" cy="64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AÉZA · ОТТОК · Risk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02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СПЕЦИФИКА ХОСТИНГА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980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Exo 2"/>
              </a:rPr>
              <a:t>Удалённый сервер вернуть нельзя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645919"/>
            <a:ext cx="109728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58521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>
                <a:solidFill>
                  <a:srgbClr val="4CC6F1"/>
                </a:solidFill>
                <a:latin typeface="Exo 2"/>
              </a:rPr>
              <a:t>—  </a:t>
            </a:r>
            <a:r>
              <a:rPr sz="1700" b="1">
                <a:solidFill>
                  <a:srgbClr val="000000"/>
                </a:solidFill>
                <a:latin typeface="Exo 2"/>
              </a:rPr>
              <a:t>Сервер удалён = клиент потерян. </a:t>
            </a:r>
            <a:r>
              <a:rPr sz="1700" b="0">
                <a:solidFill>
                  <a:srgbClr val="000000"/>
                </a:solidFill>
                <a:latin typeface="Inter"/>
              </a:rPr>
              <a:t>Спасать нужно ДО безвозвратного удаления данных.</a:t>
            </a:r>
          </a:p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>
                <a:solidFill>
                  <a:srgbClr val="4CC6F1"/>
                </a:solidFill>
                <a:latin typeface="Exo 2"/>
              </a:rPr>
              <a:t>—  </a:t>
            </a:r>
            <a:r>
              <a:rPr sz="1700" b="1">
                <a:solidFill>
                  <a:srgbClr val="000000"/>
                </a:solidFill>
                <a:latin typeface="Exo 2"/>
              </a:rPr>
              <a:t>Точки перехвата оттока: </a:t>
            </a:r>
            <a:r>
              <a:rPr sz="1700" b="0">
                <a:solidFill>
                  <a:srgbClr val="000000"/>
                </a:solidFill>
                <a:latin typeface="Inter"/>
              </a:rPr>
              <a:t>suspended (выключил, но платит) и prolong_wait (5 дней до удаления).</a:t>
            </a:r>
          </a:p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>
                <a:solidFill>
                  <a:srgbClr val="4CC6F1"/>
                </a:solidFill>
                <a:latin typeface="Exo 2"/>
              </a:rPr>
              <a:t>—  </a:t>
            </a:r>
            <a:r>
              <a:rPr sz="1700" b="1">
                <a:solidFill>
                  <a:srgbClr val="000000"/>
                </a:solidFill>
                <a:latin typeface="Exo 2"/>
              </a:rPr>
              <a:t>Проблема маркетолога: </a:t>
            </a:r>
            <a:r>
              <a:rPr sz="1700" b="0">
                <a:solidFill>
                  <a:srgbClr val="000000"/>
                </a:solidFill>
                <a:latin typeface="Inter"/>
              </a:rPr>
              <a:t>в логах тысячи строк, но нет чёткого приоритета, кому звонить первым.</a:t>
            </a:r>
          </a:p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>
                <a:solidFill>
                  <a:srgbClr val="4CC6F1"/>
                </a:solidFill>
                <a:latin typeface="Exo 2"/>
              </a:rPr>
              <a:t>—  </a:t>
            </a:r>
            <a:r>
              <a:rPr sz="1700" b="1">
                <a:solidFill>
                  <a:srgbClr val="000000"/>
                </a:solidFill>
                <a:latin typeface="Exo 2"/>
              </a:rPr>
              <a:t>Наша цель: </a:t>
            </a:r>
            <a:r>
              <a:rPr sz="1700" b="0">
                <a:solidFill>
                  <a:srgbClr val="000000"/>
                </a:solidFill>
                <a:latin typeface="Inter"/>
              </a:rPr>
              <a:t>превратить сухие статусы в конкретные деньги и немедленное действие.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2103120"/>
            <a:ext cx="4206240" cy="11430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212848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000000"/>
                </a:solidFill>
                <a:latin typeface="Exo 2"/>
              </a:rPr>
              <a:t>67,53 €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761487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82D48"/>
                </a:solidFill>
                <a:latin typeface="Inter"/>
              </a:rPr>
              <a:t>платежей под угрозой на демо-снимке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3401568"/>
            <a:ext cx="4206240" cy="11430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3511296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E97C35"/>
                </a:solidFill>
                <a:latin typeface="Exo 2"/>
              </a:rPr>
              <a:t>3 из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4059935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82D48"/>
                </a:solidFill>
                <a:latin typeface="Inter"/>
              </a:rPr>
              <a:t>клиентов требуют срочного внимания (Score ≥ 70)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4700016"/>
            <a:ext cx="4206240" cy="1143000"/>
          </a:xfrm>
          <a:prstGeom prst="roundRect">
            <a:avLst>
              <a:gd name="adj" fmla="val 6000"/>
            </a:avLst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4809744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800" b="1">
                <a:solidFill>
                  <a:srgbClr val="4CC6F1"/>
                </a:solidFill>
                <a:latin typeface="Exo 2"/>
              </a:rPr>
              <a:t>5 дней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5358383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nter"/>
              </a:rPr>
              <a:t>окно спасения в prolong_wait до стирания сервера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19088"/>
            <a:ext cx="10637215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55664"/>
            <a:ext cx="201168" cy="64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AÉZA · ОТТОК · Risk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03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РЕШЕНИЕ КЕЙСА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980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Exo 2"/>
              </a:rPr>
              <a:t>Три ответа ТЗ — один рабочий экран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645919"/>
            <a:ext cx="109728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777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4CC6F1"/>
                </a:solidFill>
                <a:latin typeface="Exo 2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130552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Exo 2"/>
              </a:rPr>
              <a:t>Кому звонить: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514600"/>
            <a:ext cx="4114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82D48"/>
                </a:solidFill>
                <a:latin typeface="Inter"/>
              </a:rPr>
              <a:t>Рейтинг по Risk Score и срочности (до 7 дней). Сортировка и экспорт CSV.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29000"/>
            <a:ext cx="777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4CC6F1"/>
                </a:solidFill>
                <a:latin typeface="Exo 2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410712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Exo 2"/>
              </a:rPr>
              <a:t>Почему уходит: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794760"/>
            <a:ext cx="4114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82D48"/>
                </a:solidFill>
                <a:latin typeface="Inter"/>
              </a:rPr>
              <a:t>Причина человеческим языком: «На продление нужно 5,50 €, на балансе 3,00 €».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709160"/>
            <a:ext cx="777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>
                <a:solidFill>
                  <a:srgbClr val="4CC6F1"/>
                </a:solidFill>
                <a:latin typeface="Exo 2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4690872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000000"/>
                </a:solidFill>
                <a:latin typeface="Exo 2"/>
              </a:rPr>
              <a:t>Сколько теряем: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5074920"/>
            <a:ext cx="4114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82D48"/>
                </a:solidFill>
                <a:latin typeface="Inter"/>
              </a:rPr>
              <a:t>Точная денежная оценка по ближайшим платежам за услуги с учётом баланса.</a:t>
            </a:r>
          </a:p>
        </p:txBody>
      </p:sp>
      <p:pic>
        <p:nvPicPr>
          <p:cNvPr id="19" name="Picture 18" descr="dashboard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057400"/>
            <a:ext cx="5623560" cy="3592830"/>
          </a:xfrm>
          <a:prstGeom prst="rect">
            <a:avLst/>
          </a:prstGeom>
          <a:ln w="1905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19088"/>
            <a:ext cx="10637215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55664"/>
            <a:ext cx="201168" cy="64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AÉZA · ОТТОК · Risk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04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ДЕЙСТВИЕ И RETENTION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980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Exo 2"/>
              </a:rPr>
              <a:t>От анализа к действию: удержание в 1 клик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645919"/>
            <a:ext cx="109728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58521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>
                <a:solidFill>
                  <a:srgbClr val="4CC6F1"/>
                </a:solidFill>
                <a:latin typeface="Exo 2"/>
              </a:rPr>
              <a:t>—  </a:t>
            </a:r>
            <a:r>
              <a:rPr sz="1700" b="1">
                <a:solidFill>
                  <a:srgbClr val="000000"/>
                </a:solidFill>
                <a:latin typeface="Exo 2"/>
              </a:rPr>
              <a:t>Маркетолог не тратит время на рутину: </a:t>
            </a:r>
            <a:r>
              <a:rPr sz="1700" b="0">
                <a:solidFill>
                  <a:srgbClr val="000000"/>
                </a:solidFill>
                <a:latin typeface="Inter"/>
              </a:rPr>
              <a:t>система сама формирует контекст обращения.</a:t>
            </a:r>
          </a:p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>
                <a:solidFill>
                  <a:srgbClr val="4CC6F1"/>
                </a:solidFill>
                <a:latin typeface="Exo 2"/>
              </a:rPr>
              <a:t>—  </a:t>
            </a:r>
            <a:r>
              <a:rPr sz="1700" b="1">
                <a:solidFill>
                  <a:srgbClr val="000000"/>
                </a:solidFill>
                <a:latin typeface="Exo 2"/>
              </a:rPr>
              <a:t>7 готовых сценариев удержания: </a:t>
            </a:r>
            <a:r>
              <a:rPr sz="1700" b="0">
                <a:solidFill>
                  <a:srgbClr val="000000"/>
                </a:solidFill>
                <a:latin typeface="Inter"/>
              </a:rPr>
              <a:t>от нехватки денег до зависшей оплаты и блокировки.</a:t>
            </a:r>
          </a:p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>
                <a:solidFill>
                  <a:srgbClr val="4CC6F1"/>
                </a:solidFill>
                <a:latin typeface="Exo 2"/>
              </a:rPr>
              <a:t>—  </a:t>
            </a:r>
            <a:r>
              <a:rPr sz="1700" b="1">
                <a:solidFill>
                  <a:srgbClr val="000000"/>
                </a:solidFill>
                <a:latin typeface="Exo 2"/>
              </a:rPr>
              <a:t>Умная автоподстановка: </a:t>
            </a:r>
            <a:r>
              <a:rPr sz="1700" b="0">
                <a:solidFill>
                  <a:srgbClr val="000000"/>
                </a:solidFill>
                <a:latin typeface="Inter"/>
              </a:rPr>
              <a:t>в письмо подставляются имя, название сервера, сумма доплаты и промокод.</a:t>
            </a:r>
          </a:p>
          <a:p>
            <a:pPr marL="320040" indent="-320040">
              <a:lnSpc>
                <a:spcPct val="125000"/>
              </a:lnSpc>
              <a:spcAft>
                <a:spcPts val="1600"/>
              </a:spcAft>
            </a:pPr>
            <a:r>
              <a:rPr sz="1700" b="1">
                <a:solidFill>
                  <a:srgbClr val="4CC6F1"/>
                </a:solidFill>
                <a:latin typeface="Exo 2"/>
              </a:rPr>
              <a:t>—  </a:t>
            </a:r>
            <a:r>
              <a:rPr sz="1700" b="1">
                <a:solidFill>
                  <a:srgbClr val="000000"/>
                </a:solidFill>
                <a:latin typeface="Exo 2"/>
              </a:rPr>
              <a:t>Мгновенное действие: </a:t>
            </a:r>
            <a:r>
              <a:rPr sz="1700" b="0">
                <a:solidFill>
                  <a:srgbClr val="000000"/>
                </a:solidFill>
                <a:latin typeface="Inter"/>
              </a:rPr>
              <a:t>копирование текста в один клик или прямая ссылка mailto: для отправки.</a:t>
            </a:r>
          </a:p>
        </p:txBody>
      </p:sp>
      <p:pic>
        <p:nvPicPr>
          <p:cNvPr id="11" name="Picture 10" descr="email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2011680"/>
            <a:ext cx="4206240" cy="5633357"/>
          </a:xfrm>
          <a:prstGeom prst="rect">
            <a:avLst/>
          </a:prstGeom>
          <a:ln w="1905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19088"/>
            <a:ext cx="10637215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55664"/>
            <a:ext cx="201168" cy="64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AÉZA · ОТТОК · Risk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05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МЕТОДОЛОГИЯ И ЧЕСТНОСТЬ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980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Exo 2"/>
              </a:rPr>
              <a:t>Прозрачные правила вместо чёрного ящика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645919"/>
            <a:ext cx="109728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7 ПРИЗНАКОВ И ВЕСА (НАСТРАИВАЮТСЯ В ПАНЕЛИ БЕЗ КОДА)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Срочность продления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42316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0,40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807208"/>
            <a:ext cx="2651760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231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Нехватка баланса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242316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0,25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807208"/>
            <a:ext cx="2651760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175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Автопродление 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01752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0,10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401568"/>
            <a:ext cx="2651760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30175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Статус prolong / susp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301752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0,10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1880" y="3401568"/>
            <a:ext cx="2651760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61188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История неоплат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6118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0,10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995928"/>
            <a:ext cx="2651760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11880" y="361188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000000"/>
                </a:solidFill>
                <a:latin typeface="Exo 2"/>
              </a:rPr>
              <a:t>Лояльность / стаж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3611880"/>
            <a:ext cx="548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0,05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11880" y="3995928"/>
            <a:ext cx="2651760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4297680"/>
            <a:ext cx="5303520" cy="16916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4348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РАСЧЁТ ДЕНЕГ ПОД РИСКОМ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754880"/>
            <a:ext cx="48463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Exo 2"/>
              </a:rPr>
              <a:t>Потери = P(score) × price × (1 − 0,5 × баланс)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212080"/>
            <a:ext cx="48463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Считаем от цены продления услуги (price), а не из случайных сумм транзакций. Баланс гасит риск максимум наполовину: деньги есть, но сервер могут не продлить.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0" y="2057400"/>
            <a:ext cx="4663440" cy="3931920"/>
          </a:xfrm>
          <a:prstGeom prst="roundRect">
            <a:avLst>
              <a:gd name="adj" fmla="val 6000"/>
            </a:avLst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23317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ПОЧЕМУ НЕ ML?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834640"/>
            <a:ext cx="41148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4CC6F1"/>
                </a:solidFill>
                <a:latin typeface="Exo 2"/>
              </a:rPr>
              <a:t>—  </a:t>
            </a:r>
            <a:r>
              <a:rPr sz="1300" b="1">
                <a:solidFill>
                  <a:srgbClr val="FFFFFF"/>
                </a:solidFill>
                <a:latin typeface="Exo 2"/>
              </a:rPr>
              <a:t>0 меток оттока и 0 истории: </a:t>
            </a:r>
            <a:r>
              <a:rPr sz="1300" b="0">
                <a:solidFill>
                  <a:srgbClr val="FFFFFF"/>
                </a:solidFill>
                <a:latin typeface="Inter"/>
              </a:rPr>
              <a:t>в данных нет исходов — обучать ML не на чем.</a:t>
            </a:r>
          </a:p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4CC6F1"/>
                </a:solidFill>
                <a:latin typeface="Exo 2"/>
              </a:rPr>
              <a:t>—  </a:t>
            </a:r>
            <a:r>
              <a:rPr sz="1300" b="1">
                <a:solidFill>
                  <a:srgbClr val="FFFFFF"/>
                </a:solidFill>
                <a:latin typeface="Exo 2"/>
              </a:rPr>
              <a:t>ML на 10 строках — самообман: </a:t>
            </a:r>
            <a:r>
              <a:rPr sz="1300" b="0">
                <a:solidFill>
                  <a:srgbClr val="FFFFFF"/>
                </a:solidFill>
                <a:latin typeface="Inter"/>
              </a:rPr>
              <a:t>модель просто заучит шум и выдаст ложные цифры.</a:t>
            </a:r>
          </a:p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4CC6F1"/>
                </a:solidFill>
                <a:latin typeface="Exo 2"/>
              </a:rPr>
              <a:t>—  </a:t>
            </a:r>
            <a:r>
              <a:rPr sz="1300" b="1">
                <a:solidFill>
                  <a:srgbClr val="FFFFFF"/>
                </a:solidFill>
                <a:latin typeface="Exo 2"/>
              </a:rPr>
              <a:t>Полная прозрачность: </a:t>
            </a:r>
            <a:r>
              <a:rPr sz="1300" b="0">
                <a:solidFill>
                  <a:srgbClr val="FFFFFF"/>
                </a:solidFill>
                <a:latin typeface="Inter"/>
              </a:rPr>
              <a:t>маркетолог понимает каждый балл и меняет веса в UI.</a:t>
            </a:r>
          </a:p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4CC6F1"/>
                </a:solidFill>
                <a:latin typeface="Exo 2"/>
              </a:rPr>
              <a:t>—  </a:t>
            </a:r>
            <a:r>
              <a:rPr sz="1300" b="1">
                <a:solidFill>
                  <a:srgbClr val="FFFFFF"/>
                </a:solidFill>
                <a:latin typeface="Exo 2"/>
              </a:rPr>
              <a:t>Калибровка без смены кода: </a:t>
            </a:r>
            <a:r>
              <a:rPr sz="1300" b="0">
                <a:solidFill>
                  <a:srgbClr val="FFFFFF"/>
                </a:solidFill>
                <a:latin typeface="Inter"/>
              </a:rPr>
              <a:t>появится история — модель откалибруется моментально.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19088"/>
            <a:ext cx="10637215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55664"/>
            <a:ext cx="201168" cy="64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AÉZA · ОТТОК · Risk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06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ИНЖЕНЕРИЯ И ПРОД-ГОТОВНОСТЬ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980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Exo 2"/>
              </a:rPr>
              <a:t>Готов к бою: одна команда запуска и 449 тестов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645919"/>
            <a:ext cx="109728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103120"/>
            <a:ext cx="2423160" cy="141732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402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1 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4320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docker compose up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готов за секунды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7288" y="2103120"/>
            <a:ext cx="2423160" cy="141732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0168" y="22402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Exo 2"/>
              </a:rPr>
              <a:t>449 тестов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0168" y="274320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backend + Playwright e2e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100% зелёный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17336" y="2103120"/>
            <a:ext cx="2423160" cy="141732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6" y="22402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000000"/>
                </a:solidFill>
                <a:latin typeface="Exo 2"/>
              </a:rPr>
              <a:t>3,1 сек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274320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на 10 000 клиентов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p95 чтения 24 мс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87384" y="2103120"/>
            <a:ext cx="2423160" cy="141732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70263" y="2240280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182D48"/>
                </a:solidFill>
                <a:latin typeface="Exo 2"/>
              </a:rPr>
              <a:t>Enterprise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0263" y="274320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Prometheus /metrics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Swagger + Keycloak SSO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794760"/>
            <a:ext cx="60350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Воспроизводимость: </a:t>
            </a:r>
            <a:r>
              <a:rPr sz="1400" b="0">
                <a:solidFill>
                  <a:srgbClr val="000000"/>
                </a:solidFill>
                <a:latin typeface="Inter"/>
              </a:rPr>
              <a:t>жюри разворачивает стенд одной строкой из docs/JURY.md.</a:t>
            </a:r>
          </a:p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SQLite WAL: </a:t>
            </a:r>
            <a:r>
              <a:rPr sz="1400" b="0">
                <a:solidFill>
                  <a:srgbClr val="000000"/>
                </a:solidFill>
                <a:latin typeface="Inter"/>
              </a:rPr>
              <a:t>высокая скорость, устойчивость к сбоям, данные сохраняются.</a:t>
            </a:r>
          </a:p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Реальное время: </a:t>
            </a:r>
            <a:r>
              <a:rPr sz="1400" b="0">
                <a:solidFill>
                  <a:srgbClr val="000000"/>
                </a:solidFill>
                <a:latin typeface="Inter"/>
              </a:rPr>
              <a:t>SSE-стриминг мгновенно обновляет дашборд при смене данных.</a:t>
            </a:r>
          </a:p>
          <a:p>
            <a:pPr marL="320040" indent="-320040"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Безопасность: </a:t>
            </a:r>
            <a:r>
              <a:rPr sz="1400" b="0">
                <a:solidFill>
                  <a:srgbClr val="000000"/>
                </a:solidFill>
                <a:latin typeface="Inter"/>
              </a:rPr>
              <a:t>сессии HttpOnly, защита от перебора PBKDF2, OIDC с PKCE.</a:t>
            </a:r>
          </a:p>
        </p:txBody>
      </p:sp>
      <p:pic>
        <p:nvPicPr>
          <p:cNvPr id="23" name="Picture 22" descr="11-login-s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749039"/>
            <a:ext cx="3931920" cy="2457450"/>
          </a:xfrm>
          <a:prstGeom prst="rect">
            <a:avLst/>
          </a:prstGeom>
          <a:ln w="1905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19088"/>
            <a:ext cx="10637215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55664"/>
            <a:ext cx="201168" cy="64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AÉZA · ОТТОК · Risk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07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ИТОГ И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980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Exo 2"/>
              </a:rPr>
              <a:t>ОТТОК · Risk Desk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645919"/>
            <a:ext cx="109728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057400"/>
            <a:ext cx="539496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8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2860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82D48"/>
                </a:solidFill>
                <a:latin typeface="Exo 2"/>
              </a:rPr>
              <a:t>РЕЗУЛЬТАТ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43200"/>
            <a:ext cx="46634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20040" indent="-320040"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100% покрытие ТЗ: </a:t>
            </a:r>
            <a:r>
              <a:rPr sz="1400" b="0">
                <a:solidFill>
                  <a:srgbClr val="000000"/>
                </a:solidFill>
                <a:latin typeface="Inter"/>
              </a:rPr>
              <a:t>все три вопроса кейса закрыты в одном окне.</a:t>
            </a:r>
          </a:p>
          <a:p>
            <a:pPr marL="320040" indent="-320040"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Retention в 1 клик: </a:t>
            </a:r>
            <a:r>
              <a:rPr sz="1400" b="0">
                <a:solidFill>
                  <a:srgbClr val="000000"/>
                </a:solidFill>
                <a:latin typeface="Inter"/>
              </a:rPr>
              <a:t>персональный драфт письма клиенту с промокодом.</a:t>
            </a:r>
          </a:p>
          <a:p>
            <a:pPr marL="320040" indent="-320040"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Прогноз оттока во времени: </a:t>
            </a:r>
            <a:r>
              <a:rPr sz="1400" b="0">
                <a:solidFill>
                  <a:srgbClr val="000000"/>
                </a:solidFill>
                <a:latin typeface="Inter"/>
              </a:rPr>
              <a:t>факт просрочек и прогноз на 30 дней с CSV.</a:t>
            </a:r>
          </a:p>
          <a:p>
            <a:pPr marL="320040" indent="-320040"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449 автотестов: </a:t>
            </a:r>
            <a:r>
              <a:rPr sz="1400" b="0">
                <a:solidFill>
                  <a:srgbClr val="000000"/>
                </a:solidFill>
                <a:latin typeface="Inter"/>
              </a:rPr>
              <a:t>гарантия надёжности математики и API контрактов.</a:t>
            </a:r>
          </a:p>
          <a:p>
            <a:pPr marL="320040" indent="-320040">
              <a:lnSpc>
                <a:spcPct val="125000"/>
              </a:lnSpc>
              <a:spcAft>
                <a:spcPts val="110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—  </a:t>
            </a:r>
            <a:r>
              <a:rPr sz="1400" b="1">
                <a:solidFill>
                  <a:srgbClr val="000000"/>
                </a:solidFill>
                <a:latin typeface="Exo 2"/>
              </a:rPr>
              <a:t>Готов к интеграции: </a:t>
            </a:r>
            <a:r>
              <a:rPr sz="1400" b="0">
                <a:solidFill>
                  <a:srgbClr val="000000"/>
                </a:solidFill>
                <a:latin typeface="Inter"/>
              </a:rPr>
              <a:t>Swagger, Prometheus и Keycloak SSO из коробки.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057400"/>
            <a:ext cx="4663440" cy="4023360"/>
          </a:xfrm>
          <a:prstGeom prst="roundRect">
            <a:avLst>
              <a:gd name="adj" fmla="val 6000"/>
            </a:avLst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ГОТОВЫ К ВОПРОСАМ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6974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Inter"/>
              </a:rPr>
              <a:t>Прямая ссылка на GitHub (код, тесты, docs/JURY.md):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3108960"/>
            <a:ext cx="21031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qr-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3200400"/>
            <a:ext cx="1920240" cy="1920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235440" y="3154680"/>
            <a:ext cx="19202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СКАН ДЛЯ ЖЮРИ: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/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docker compose up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/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Swagger API: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/api/v1/docs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/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Prometheus: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/metrics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/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Exo 2"/>
              </a:rPr>
              <a:t>Вход: admin / admin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3949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CC6F1"/>
                </a:solidFill>
                <a:latin typeface="Exo 2"/>
              </a:rPr>
              <a:t>github.com/Demtory/Hack23.10.26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6419088"/>
            <a:ext cx="10637215" cy="13716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ez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55664"/>
            <a:ext cx="201168" cy="643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AÉZA · ОТТОК · Risk Desk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2935" y="64739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Exo 2"/>
              </a:rPr>
              <a:t>08 /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14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82D48"/>
                </a:solidFill>
                <a:latin typeface="Exo 2"/>
              </a:rPr>
              <a:t>ДЕМО-СТЕНД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4980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000000"/>
                </a:solidFill>
                <a:latin typeface="Exo 2"/>
              </a:rPr>
              <a:t>ПАНЕЛЬ В ОДИН СКАН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645919"/>
            <a:ext cx="109728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2057400"/>
            <a:ext cx="4754880" cy="4023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82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-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286000"/>
            <a:ext cx="3063240" cy="3063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43000" y="544068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Наведите камеру — панель откроется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сразу, без пароля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2057400"/>
            <a:ext cx="5212080" cy="4023360"/>
          </a:xfrm>
          <a:prstGeom prst="roundRect">
            <a:avLst>
              <a:gd name="adj" fmla="val 6000"/>
            </a:avLst>
          </a:prstGeom>
          <a:solidFill>
            <a:srgbClr val="182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4CC6F1"/>
                </a:solidFill>
                <a:latin typeface="Exo 2"/>
              </a:rPr>
              <a:t>ЧТО ПРОВЕРИТЬ ЗА 60 СЕКУНД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97480"/>
            <a:ext cx="46634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20040" indent="-320040"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4CC6F1"/>
                </a:solidFill>
                <a:latin typeface="Exo 2"/>
              </a:rPr>
              <a:t>—  </a:t>
            </a:r>
            <a:r>
              <a:rPr sz="1250" b="1">
                <a:solidFill>
                  <a:srgbClr val="FFFFFF"/>
                </a:solidFill>
                <a:latin typeface="Exo 2"/>
              </a:rPr>
              <a:t>Сводка: </a:t>
            </a:r>
            <a:r>
              <a:rPr sz="1250" b="0">
                <a:solidFill>
                  <a:srgbClr val="FFFFFF"/>
                </a:solidFill>
                <a:latin typeface="Inter"/>
              </a:rPr>
              <a:t>16,87 € потерь, 43,91 € под риском, 3 из 10 — высокий.</a:t>
            </a:r>
          </a:p>
          <a:p>
            <a:pPr marL="320040" indent="-320040"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4CC6F1"/>
                </a:solidFill>
                <a:latin typeface="Exo 2"/>
              </a:rPr>
              <a:t>—  </a:t>
            </a:r>
            <a:r>
              <a:rPr sz="1250" b="1">
                <a:solidFill>
                  <a:srgbClr val="FFFFFF"/>
                </a:solidFill>
                <a:latin typeface="Exo 2"/>
              </a:rPr>
              <a:t>Прогноз: </a:t>
            </a:r>
            <a:r>
              <a:rPr sz="1250" b="0">
                <a:solidFill>
                  <a:srgbClr val="FFFFFF"/>
                </a:solidFill>
                <a:latin typeface="Inter"/>
              </a:rPr>
              <a:t>6 истёкших услуг, 1,7 ожидаемых непродлений, 6,88 €.</a:t>
            </a:r>
          </a:p>
          <a:p>
            <a:pPr marL="320040" indent="-320040"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4CC6F1"/>
                </a:solidFill>
                <a:latin typeface="Exo 2"/>
              </a:rPr>
              <a:t>—  </a:t>
            </a:r>
            <a:r>
              <a:rPr sz="1250" b="1">
                <a:solidFill>
                  <a:srgbClr val="FFFFFF"/>
                </a:solidFill>
                <a:latin typeface="Exo 2"/>
              </a:rPr>
              <a:t>Клиент 6: </a:t>
            </a:r>
            <a:r>
              <a:rPr sz="1250" b="0">
                <a:solidFill>
                  <a:srgbClr val="FFFFFF"/>
                </a:solidFill>
                <a:latin typeface="Inter"/>
              </a:rPr>
              <a:t>причины, деньги, готовое письмо маркетолога.</a:t>
            </a:r>
          </a:p>
          <a:p>
            <a:pPr marL="320040" indent="-320040"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4CC6F1"/>
                </a:solidFill>
                <a:latin typeface="Exo 2"/>
              </a:rPr>
              <a:t>—  </a:t>
            </a:r>
            <a:r>
              <a:rPr sz="1250" b="1">
                <a:solidFill>
                  <a:srgbClr val="FFFFFF"/>
                </a:solidFill>
                <a:latin typeface="Exo 2"/>
              </a:rPr>
              <a:t>Настройки: </a:t>
            </a:r>
            <a:r>
              <a:rPr sz="1250" b="0">
                <a:solidFill>
                  <a:srgbClr val="FFFFFF"/>
                </a:solidFill>
                <a:latin typeface="Inter"/>
              </a:rPr>
              <a:t>пресет «Деньги важнее» → 89 → 95 без перезагрузки.</a:t>
            </a:r>
          </a:p>
          <a:p>
            <a:pPr marL="320040" indent="-320040">
              <a:lnSpc>
                <a:spcPct val="125000"/>
              </a:lnSpc>
              <a:spcAft>
                <a:spcPts val="900"/>
              </a:spcAft>
            </a:pPr>
            <a:r>
              <a:rPr sz="1250" b="1">
                <a:solidFill>
                  <a:srgbClr val="4CC6F1"/>
                </a:solidFill>
                <a:latin typeface="Exo 2"/>
              </a:rPr>
              <a:t>—  </a:t>
            </a:r>
            <a:r>
              <a:rPr sz="1250" b="1">
                <a:solidFill>
                  <a:srgbClr val="FFFFFF"/>
                </a:solidFill>
                <a:latin typeface="Exo 2"/>
              </a:rPr>
              <a:t>SSO: </a:t>
            </a:r>
            <a:r>
              <a:rPr sz="1250" b="0">
                <a:solidFill>
                  <a:srgbClr val="FFFFFF"/>
                </a:solidFill>
                <a:latin typeface="Inter"/>
              </a:rPr>
              <a:t>кнопка Keycloak, marketer@example.test.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44068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FFFFFF"/>
                </a:solidFill>
                <a:latin typeface="Inter"/>
              </a:rPr>
              <a:t>Без QR: 193.233.246.179:8000 · admin@example.test / admin123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