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секунд: кто мы, что покажем. Дальше — проблема, решение, как считаем, что уже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проблема не в отсутствии данных, а в отсутствии приоритета и действия.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экран закрывает все три вопроса кейса. Показать, что это не набор графиков, а маршрут к действию.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решение объяснимо и настраивается без кода. Формула денег — на слайде, чтобы не выглядеть магией.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любимый вопрос жюри. Отвечаем прямо: данных для ML нет, и мы не притворяемся.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живой путь: клиент 6 → причина → письмо. Это то, чего нет у типичного дашборда.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Бонусный пункт кейса: график оттока. Показать, что факт и прогноз не смешаны, и честно сказать про отсутствие дат удаления.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добиваем инженерные критерии: Docker, тесты, метрики, auth, документация.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Финал: честно про ограничения и одна фраза-позиционирование. Дальше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82D48"/>
                </a:solidFill>
                <a:latin typeface="Inter"/>
              </a:rPr>
              <a:t>ХАКАТОН РНД · УРОВЕНЬ MIDDLE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000000"/>
                </a:solidFill>
                <a:latin typeface="Exo 2"/>
              </a:rPr>
              <a:t>ОТТОК · Risk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182D48"/>
                </a:solidFill>
                <a:latin typeface="Inter"/>
              </a:rPr>
              <a:t>Кому звонить сегодня — и что ему сказать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43400"/>
            <a:ext cx="1280160" cy="64008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82D48"/>
                </a:solidFill>
                <a:latin typeface="Inter"/>
              </a:rPr>
              <a:t>Панель маркетолога: приоритет клиентов, причины риска и деньги под угрозой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82D48"/>
                </a:solidFill>
                <a:latin typeface="Inter"/>
              </a:rPr>
              <a:t>FastAPI · React · SQLite · один Docker-образ · 422 теста · 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Данные есть, приоритета нет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0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Inter"/>
              </a:rPr>
              <a:t>—  Маркетолог видит статусы услуг, но не знает, кто из клиентов уйдёт первым</a:t>
            </a:r>
          </a:p>
          <a:p>
            <a:pPr marL="274320" indent="-274320">
              <a:lnSpc>
                <a:spcPct val="130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Inter"/>
              </a:rPr>
              <a:t>—  В данных нет истории статусов и дат удаления — обучать ML не на чем</a:t>
            </a:r>
          </a:p>
          <a:p>
            <a:pPr marL="274320" indent="-274320">
              <a:lnSpc>
                <a:spcPct val="130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Inter"/>
              </a:rPr>
              <a:t>—  Каждое непродление — прямые деньги: в демо-снимке 67,53 € платежей под риском</a:t>
            </a:r>
          </a:p>
          <a:p>
            <a:pPr marL="274320" indent="-274320">
              <a:lnSpc>
                <a:spcPct val="130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Inter"/>
              </a:rPr>
              <a:t>—  Отчёт «вот таблица» не отвечает на вопрос «что делать сейчас»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240280"/>
            <a:ext cx="4114800" cy="30632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48716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ДЕМО-СНИМОК, 10 КЛИЕНТОВ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889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Exo 2"/>
              </a:rPr>
              <a:t>67,53 €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520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2D48"/>
                </a:solidFill>
                <a:latin typeface="Inter"/>
              </a:rPr>
              <a:t>платежей под риском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0690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3 из 10 — высокий риск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21,56 € — ожидаемые потери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Три вопроса — три ответа в одном экране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4CC6F1"/>
                </a:solidFill>
                <a:latin typeface="Exo 2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21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Exo 2"/>
              </a:rPr>
              <a:t>Кому звонить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1460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2D48"/>
                </a:solidFill>
                <a:latin typeface="Inter"/>
              </a:rPr>
              <a:t>Рейтинг с фильтрами по уровню и срочности, сортировка и экспорт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4CC6F1"/>
                </a:solidFill>
                <a:latin typeface="Exo 2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55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Exo 2"/>
              </a:rPr>
              <a:t>Почему риск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490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2D48"/>
                </a:solidFill>
                <a:latin typeface="Inter"/>
              </a:rPr>
              <a:t>Причина одной фразой, раскрываемые факты, вклад каждого признака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4CC6F1"/>
                </a:solidFill>
                <a:latin typeface="Exo 2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02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Exo 2"/>
              </a:rPr>
              <a:t>Сколько теряем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834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2D48"/>
                </a:solidFill>
                <a:latin typeface="Inter"/>
              </a:rPr>
              <a:t>Деньги по ближайшим платежам и готовое письмо клиенту</a:t>
            </a:r>
          </a:p>
        </p:txBody>
      </p:sp>
      <p:pic>
        <p:nvPicPr>
          <p:cNvPr id="17" name="Picture 16" descr="02-overview-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65960"/>
            <a:ext cx="5349240" cy="6073616"/>
          </a:xfrm>
          <a:prstGeom prst="rect">
            <a:avLst/>
          </a:prstGeom>
          <a:ln w="12700">
            <a:solidFill>
              <a:srgbClr val="DDE2EA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Прозрачные правила вместо чёрного ящика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ШЕСТЬ ПРИЗНАКОВ И ВЕСА (МЕНЯЮТСЯ В ПАНЕЛИ)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Срочность продления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23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82D48"/>
                </a:solidFill>
                <a:latin typeface="Inter"/>
              </a:rPr>
              <a:t>0,40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2788920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4231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Нехватка денег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23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82D48"/>
                </a:solidFill>
                <a:latin typeface="Inter"/>
              </a:rPr>
              <a:t>0,25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807208"/>
            <a:ext cx="2788920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9008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Автопродление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90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82D48"/>
                </a:solidFill>
                <a:latin typeface="Inter"/>
              </a:rPr>
              <a:t>0,10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374136"/>
            <a:ext cx="2788920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99008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Статус услуги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990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82D48"/>
                </a:solidFill>
                <a:latin typeface="Inter"/>
              </a:rPr>
              <a:t>0,10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3374136"/>
            <a:ext cx="2788920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57015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История неоплат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55701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82D48"/>
                </a:solidFill>
                <a:latin typeface="Inter"/>
              </a:rPr>
              <a:t>0,10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3"/>
            <a:ext cx="2788920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3557015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Лояльность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5701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82D48"/>
                </a:solidFill>
                <a:latin typeface="Inter"/>
              </a:rPr>
              <a:t>0,05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3941063"/>
            <a:ext cx="2788920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605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2D48"/>
                </a:solidFill>
                <a:latin typeface="Inter"/>
              </a:rPr>
              <a:t>Score 0–100 · уровни 40/70 · prolong_wait и устаревшие статусы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82D48"/>
                </a:solidFill>
                <a:latin typeface="Inter"/>
              </a:rPr>
              <a:t>получают минимум 70, blocked — 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148840"/>
            <a:ext cx="4617720" cy="35661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3774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ДЕНЬГИ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7432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Exo 2"/>
              </a:rPr>
              <a:t>P(score) × price × (1 − 0,5 × покрытие)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383280"/>
            <a:ext cx="4069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Inter"/>
              </a:rPr>
              <a:t>Считаем от ближайшего платежа, а не от суммы транзакции. Баланс снижает потерю максимум наполовину: деньги отложены, но клиент всё равно может уйти.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Inter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Inter"/>
              </a:rPr>
              <a:t>Пример: 5,50 € через 2 дня, баланс 3,00 € → score 89, ожидаемые потери 6,44 €.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ЧЕСТНОСТЬ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Почему не ML — и почему это сильная сторона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7607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0000"/>
              </a:lnSpc>
              <a:spcAft>
                <a:spcPts val="11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В данных нет меток «ушёл / остался» и истории статусов</a:t>
            </a:r>
          </a:p>
          <a:p>
            <a:pPr marL="530352" indent="-274320" lvl="1">
              <a:lnSpc>
                <a:spcPct val="130000"/>
              </a:lnSpc>
              <a:spcAft>
                <a:spcPts val="1100"/>
              </a:spcAft>
            </a:pPr>
            <a:r>
              <a:rPr sz="1300">
                <a:solidFill>
                  <a:srgbClr val="182D48"/>
                </a:solidFill>
                <a:latin typeface="Inter"/>
              </a:rPr>
              <a:t>·  обучать не на чем: 10 записей дадут подгонку, а не прогноз</a:t>
            </a:r>
          </a:p>
          <a:p>
            <a:pPr marL="274320" indent="-274320">
              <a:lnSpc>
                <a:spcPct val="130000"/>
              </a:lnSpc>
              <a:spcAft>
                <a:spcPts val="11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Score — экспертная шкала, а не статистическая вероятность</a:t>
            </a:r>
          </a:p>
          <a:p>
            <a:pPr marL="530352" indent="-274320" lvl="1">
              <a:lnSpc>
                <a:spcPct val="130000"/>
              </a:lnSpc>
              <a:spcAft>
                <a:spcPts val="1100"/>
              </a:spcAft>
            </a:pPr>
            <a:r>
              <a:rPr sz="1300">
                <a:solidFill>
                  <a:srgbClr val="182D48"/>
                </a:solidFill>
                <a:latin typeface="Inter"/>
              </a:rPr>
              <a:t>·  P(score) — соглашение, оно подписано и в интерфейсе, и в API</a:t>
            </a:r>
          </a:p>
          <a:p>
            <a:pPr marL="274320" indent="-274320">
              <a:lnSpc>
                <a:spcPct val="130000"/>
              </a:lnSpc>
              <a:spcAft>
                <a:spcPts val="11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Зато причины видно, веса можно оспорить и изменить в панели</a:t>
            </a:r>
          </a:p>
          <a:p>
            <a:pPr marL="274320" indent="-274320">
              <a:lnSpc>
                <a:spcPct val="130000"/>
              </a:lnSpc>
              <a:spcAft>
                <a:spcPts val="11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Когда появятся исходы, шкала калибруется — архитектура не меняется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194560"/>
            <a:ext cx="4297680" cy="3291840"/>
          </a:xfrm>
          <a:prstGeom prst="roundRect">
            <a:avLst>
              <a:gd name="adj" fmla="val 8000"/>
            </a:avLst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5603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ЧЕГО МЫ НЕ ДЕЛАЕМ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2608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0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—  не обещаем точность прогноза</a:t>
            </a:r>
          </a:p>
          <a:p>
            <a:pPr marL="274320" indent="-274320">
              <a:lnSpc>
                <a:spcPct val="130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—  не называем деньги гарантированным убытком</a:t>
            </a:r>
          </a:p>
          <a:p>
            <a:pPr marL="274320" indent="-274320">
              <a:lnSpc>
                <a:spcPct val="130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—  не показываем тренды, которых нет в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ДЕЙСТВИЕ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Из анализа — в письмо клиенту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069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0000"/>
              </a:lnSpc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  <a:latin typeface="Inter"/>
              </a:rPr>
              <a:t>—  Черновик письма под 7 ситуаций — от нехватки денег до блокировки</a:t>
            </a:r>
          </a:p>
          <a:p>
            <a:pPr marL="274320" indent="-274320">
              <a:lnSpc>
                <a:spcPct val="130000"/>
              </a:lnSpc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  <a:latin typeface="Inter"/>
              </a:rPr>
              <a:t>—  Суммы, сроки и услуга подставляются из расчёта</a:t>
            </a:r>
          </a:p>
          <a:p>
            <a:pPr marL="274320" indent="-274320">
              <a:lnSpc>
                <a:spcPct val="130000"/>
              </a:lnSpc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  <a:latin typeface="Inter"/>
              </a:rPr>
              <a:t>—  Копирование и mailto: — отправляет маркетолог</a:t>
            </a:r>
          </a:p>
          <a:p>
            <a:pPr marL="274320" indent="-274320">
              <a:lnSpc>
                <a:spcPct val="130000"/>
              </a:lnSpc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  <a:latin typeface="Inter"/>
              </a:rPr>
              <a:t>—  Веса меняются без перезагрузки, метрики сходятся с UI</a:t>
            </a:r>
          </a:p>
        </p:txBody>
      </p:sp>
      <p:pic>
        <p:nvPicPr>
          <p:cNvPr id="9" name="Picture 8" descr="04-customer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3017520" cy="3367468"/>
          </a:xfrm>
          <a:prstGeom prst="rect">
            <a:avLst/>
          </a:prstGeom>
          <a:ln w="12700">
            <a:solidFill>
              <a:srgbClr val="DDE2EA"/>
            </a:solidFill>
          </a:ln>
        </p:spPr>
      </p:pic>
      <p:pic>
        <p:nvPicPr>
          <p:cNvPr id="10" name="Picture 9" descr="10-email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48840"/>
            <a:ext cx="3017520" cy="1885950"/>
          </a:xfrm>
          <a:prstGeom prst="rect">
            <a:avLst/>
          </a:prstGeom>
          <a:ln w="12700">
            <a:solidFill>
              <a:srgbClr val="DDE2EA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ПРОГНОЗ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Когда наступит отток: факт и прогноз разделены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-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7589520" cy="3470652"/>
          </a:xfrm>
          <a:prstGeom prst="rect">
            <a:avLst/>
          </a:prstGeom>
          <a:ln w="12700">
            <a:solidFill>
              <a:srgbClr val="DDE2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732520" y="214884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0000"/>
              </a:lnSpc>
              <a:spcAft>
                <a:spcPts val="12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—  Слева — факт по снимку: срок истёк, услуга не продлена</a:t>
            </a:r>
          </a:p>
          <a:p>
            <a:pPr marL="274320" indent="-274320">
              <a:lnSpc>
                <a:spcPct val="130000"/>
              </a:lnSpc>
              <a:spcAft>
                <a:spcPts val="12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—  Справа — прогноз: срок истекает, вероятность взята из score</a:t>
            </a:r>
          </a:p>
          <a:p>
            <a:pPr marL="274320" indent="-274320">
              <a:lnSpc>
                <a:spcPct val="130000"/>
              </a:lnSpc>
              <a:spcAft>
                <a:spcPts val="12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—  Исторических удалений нет: в данных нет даты удаления — говорим прямо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ИНЖЕНЕРИЯ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Одна команда — и проверки машиной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2395728" cy="14173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Exo 2"/>
              </a:rPr>
              <a:t>1 команда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docker compose up --build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12 секунд до healthz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240280"/>
            <a:ext cx="2395728" cy="14173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423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Exo 2"/>
              </a:rPr>
              <a:t>422 теста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88036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backend + генератор данных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7 e2e в браузере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2395728" cy="14173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423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Exo 2"/>
              </a:rPr>
              <a:t>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88036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pytest, сборка, OpenAPI,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compose и docker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2240280"/>
            <a:ext cx="2395728" cy="14173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5984" y="2423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Exo 2"/>
              </a:rPr>
              <a:t>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88036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OIDC + PKCE, Keycloak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82D48"/>
                </a:solidFill>
                <a:latin typeface="Inter"/>
              </a:rPr>
              <a:t>в отдельном оверлее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5852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Inter"/>
              </a:rPr>
              <a:t>—  10 000 клиентов: пересчёт 3,1 с, список p95 24 мс</a:t>
            </a:r>
          </a:p>
          <a:p>
            <a:pPr marL="274320" indent="-274320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Inter"/>
              </a:rPr>
              <a:t>—  Prometheus /metrics и Swagger /api/v1/docs</a:t>
            </a:r>
          </a:p>
          <a:p>
            <a:pPr marL="274320" indent="-274320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Inter"/>
              </a:rPr>
              <a:t>—  Настройки и снимок переживают перезапуск</a:t>
            </a:r>
          </a:p>
        </p:txBody>
      </p:sp>
      <p:pic>
        <p:nvPicPr>
          <p:cNvPr id="21" name="Picture 20" descr="11-login-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794760"/>
            <a:ext cx="3703320" cy="2314575"/>
          </a:xfrm>
          <a:prstGeom prst="rect">
            <a:avLst/>
          </a:prstGeom>
          <a:ln w="12700">
            <a:solidFill>
              <a:srgbClr val="DDE2EA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19088"/>
            <a:ext cx="10545775" cy="914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ОТТОК · Risk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82D48"/>
                </a:solidFill>
                <a:latin typeface="Exo 2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82D48"/>
                </a:solidFill>
                <a:latin typeface="Inter"/>
              </a:rPr>
              <a:t>ГРАНИЦЫ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Exo 2"/>
              </a:rPr>
              <a:t>Что мы знаем про свои ограничения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0" cy="54864"/>
          </a:xfrm>
          <a:prstGeom prst="rect">
            <a:avLst/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10 клиентов в демо-данных — для «топ-клиентов» мало</a:t>
            </a:r>
          </a:p>
          <a:p>
            <a:pPr marL="274320" indent="-274320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Нет истории статусов: прогноза оттока во времени нет</a:t>
            </a:r>
          </a:p>
          <a:p>
            <a:pPr marL="274320" indent="-274320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Деньги — оценка ближайших платежей, не месячная выручка</a:t>
            </a:r>
          </a:p>
          <a:p>
            <a:pPr marL="274320" indent="-274320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000000"/>
                </a:solidFill>
                <a:latin typeface="Inter"/>
              </a:rPr>
              <a:t>—  Дальше: накопление снапшотов, калибровка на исходах, Grafana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4CC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514600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Exo 2"/>
              </a:rPr>
              <a:t>Риск превращается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Exo 2"/>
              </a:rPr>
              <a:t>в действие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794760"/>
            <a:ext cx="4343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Репозиторий и инструкция для запуска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Inter"/>
              </a:rPr>
              <a:t>в docs/JURY.md — три минуты до панели.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