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30 секунд: кто мы, что покажем. Дальше — проблема, решение, как считаем, что уже работает.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Подчеркнуть: проблема не в отсутствии данных, а в отсутствии приоритета и действия.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Один экран закрывает все три вопроса кейса. Показать, что это не набор графиков, а маршрут к действию.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Ключевая мысль: решение объяснимо и настраивается без кода. Формула денег — на слайде, чтобы не выглядеть магией.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любимый вопрос жюри. Отвечаем прямо: данных для ML нет, и мы не притворяемся.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Показать живой путь: клиент 6 → причина → письмо. Это то, чего нет у типичного дашборда.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Бонусный пункт кейса: график оттока. Показать, что факт и прогноз не смешаны, и честно сказать про отсутствие дат удаления.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Здесь добиваем инженерные критерии: Docker, тесты, метрики, auth, документация.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Финал: честно про ограничения и одна фраза-позиционирование. Дальше вопросы.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4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4CC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137160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182D48"/>
                </a:solidFill>
                <a:latin typeface="Inter"/>
              </a:rPr>
              <a:t>ХАКАТОН РНД · УРОВЕНЬ MIDDLE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1920240"/>
            <a:ext cx="100584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5400" b="1">
                <a:solidFill>
                  <a:srgbClr val="000000"/>
                </a:solidFill>
                <a:latin typeface="Exo 2"/>
              </a:rPr>
              <a:t>ОТТОК · Risk Desk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3246120"/>
            <a:ext cx="96012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400" b="0">
                <a:solidFill>
                  <a:srgbClr val="182D48"/>
                </a:solidFill>
                <a:latin typeface="Inter"/>
              </a:rPr>
              <a:t>Кому звонить сегодня — и что ему сказать</a:t>
            </a:r>
          </a:p>
        </p:txBody>
      </p:sp>
      <p:sp>
        <p:nvSpPr>
          <p:cNvPr id="6" name="Rectangle 5"/>
          <p:cNvSpPr/>
          <p:nvPr/>
        </p:nvSpPr>
        <p:spPr>
          <a:xfrm>
            <a:off x="1005840" y="4343400"/>
            <a:ext cx="1280160" cy="64008"/>
          </a:xfrm>
          <a:prstGeom prst="rect">
            <a:avLst/>
          </a:prstGeom>
          <a:solidFill>
            <a:srgbClr val="4CC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46177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0">
                <a:solidFill>
                  <a:srgbClr val="182D48"/>
                </a:solidFill>
                <a:latin typeface="Inter"/>
              </a:rPr>
              <a:t>Панель маркетолога: приоритет клиентов, причины риска и деньги под угрозой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5989320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182D48"/>
                </a:solidFill>
                <a:latin typeface="Inter"/>
              </a:rPr>
              <a:t>FastAPI · React · SQLite · один Docker-образ · 441 тест · CI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6419088"/>
            <a:ext cx="10545775" cy="9144"/>
          </a:xfrm>
          <a:prstGeom prst="rect">
            <a:avLst/>
          </a:prstGeom>
          <a:solidFill>
            <a:srgbClr val="DDE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182D48"/>
                </a:solidFill>
                <a:latin typeface="Exo 2"/>
              </a:rPr>
              <a:t>ОТТОК · Risk Desk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20095" y="649224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182D48"/>
                </a:solidFill>
                <a:latin typeface="Exo 2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>
                <a:solidFill>
                  <a:srgbClr val="182D48"/>
                </a:solidFill>
                <a:latin typeface="Inter"/>
              </a:rPr>
              <a:t>ПРОБЛЕМА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68680"/>
            <a:ext cx="1042416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200" b="1">
                <a:solidFill>
                  <a:srgbClr val="000000"/>
                </a:solidFill>
                <a:latin typeface="Exo 2"/>
              </a:rPr>
              <a:t>Данные есть, приоритета нет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1783080"/>
            <a:ext cx="822960" cy="54864"/>
          </a:xfrm>
          <a:prstGeom prst="rect">
            <a:avLst/>
          </a:prstGeom>
          <a:solidFill>
            <a:srgbClr val="4CC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240280"/>
            <a:ext cx="6035040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30000"/>
              </a:lnSpc>
              <a:spcAft>
                <a:spcPts val="1400"/>
              </a:spcAft>
            </a:pPr>
            <a:r>
              <a:rPr sz="1600">
                <a:solidFill>
                  <a:srgbClr val="000000"/>
                </a:solidFill>
                <a:latin typeface="Inter"/>
              </a:rPr>
              <a:t>—  Маркетолог видит статусы услуг, но не знает, кто из клиентов уйдёт первым</a:t>
            </a:r>
          </a:p>
          <a:p>
            <a:pPr marL="274320" indent="-274320">
              <a:lnSpc>
                <a:spcPct val="130000"/>
              </a:lnSpc>
              <a:spcAft>
                <a:spcPts val="1400"/>
              </a:spcAft>
            </a:pPr>
            <a:r>
              <a:rPr sz="1600">
                <a:solidFill>
                  <a:srgbClr val="000000"/>
                </a:solidFill>
                <a:latin typeface="Inter"/>
              </a:rPr>
              <a:t>—  В данных нет истории статусов и дат удаления — обучать ML не на чем</a:t>
            </a:r>
          </a:p>
          <a:p>
            <a:pPr marL="274320" indent="-274320">
              <a:lnSpc>
                <a:spcPct val="130000"/>
              </a:lnSpc>
              <a:spcAft>
                <a:spcPts val="1400"/>
              </a:spcAft>
            </a:pPr>
            <a:r>
              <a:rPr sz="1600">
                <a:solidFill>
                  <a:srgbClr val="000000"/>
                </a:solidFill>
                <a:latin typeface="Inter"/>
              </a:rPr>
              <a:t>—  Каждое непродление — прямые деньги: в демо-снимке 67,53 € платежей под риском</a:t>
            </a:r>
          </a:p>
          <a:p>
            <a:pPr marL="274320" indent="-274320">
              <a:lnSpc>
                <a:spcPct val="130000"/>
              </a:lnSpc>
              <a:spcAft>
                <a:spcPts val="1400"/>
              </a:spcAft>
            </a:pPr>
            <a:r>
              <a:rPr sz="1600">
                <a:solidFill>
                  <a:srgbClr val="000000"/>
                </a:solidFill>
                <a:latin typeface="Inter"/>
              </a:rPr>
              <a:t>—  Отчёт «вот таблица» не отвечает на вопрос «что делать сейчас»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223760" y="2240280"/>
            <a:ext cx="4114800" cy="3063240"/>
          </a:xfrm>
          <a:prstGeom prst="roundRect">
            <a:avLst>
              <a:gd name="adj" fmla="val 8000"/>
            </a:avLst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79" y="2487168"/>
            <a:ext cx="3566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>
                <a:solidFill>
                  <a:srgbClr val="182D48"/>
                </a:solidFill>
                <a:latin typeface="Inter"/>
              </a:rPr>
              <a:t>ДЕМО-СНИМОК, 10 КЛИЕНТОВ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79" y="2788920"/>
            <a:ext cx="35661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4000" b="1">
                <a:solidFill>
                  <a:srgbClr val="000000"/>
                </a:solidFill>
                <a:latin typeface="Exo 2"/>
              </a:rPr>
              <a:t>67,53 €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79" y="3520440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182D48"/>
                </a:solidFill>
                <a:latin typeface="Inter"/>
              </a:rPr>
              <a:t>платежей под риском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79" y="4069080"/>
            <a:ext cx="35661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000000"/>
                </a:solidFill>
                <a:latin typeface="Inter"/>
              </a:rPr>
              <a:t>3 из 10 — высокий риск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000000"/>
                </a:solidFill>
                <a:latin typeface="Inter"/>
              </a:rPr>
              <a:t>21,56 € — ожидаемые потери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6419088"/>
            <a:ext cx="10545775" cy="9144"/>
          </a:xfrm>
          <a:prstGeom prst="rect">
            <a:avLst/>
          </a:prstGeom>
          <a:solidFill>
            <a:srgbClr val="DDE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182D48"/>
                </a:solidFill>
                <a:latin typeface="Exo 2"/>
              </a:rPr>
              <a:t>ОТТОК · Risk Desk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20095" y="649224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182D48"/>
                </a:solidFill>
                <a:latin typeface="Exo 2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>
                <a:solidFill>
                  <a:srgbClr val="182D48"/>
                </a:solidFill>
                <a:latin typeface="Inter"/>
              </a:rPr>
              <a:t>РЕШЕНИЕ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68680"/>
            <a:ext cx="1042416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200" b="1">
                <a:solidFill>
                  <a:srgbClr val="000000"/>
                </a:solidFill>
                <a:latin typeface="Exo 2"/>
              </a:rPr>
              <a:t>Три вопроса — три ответа в одном экране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1783080"/>
            <a:ext cx="822960" cy="54864"/>
          </a:xfrm>
          <a:prstGeom prst="rect">
            <a:avLst/>
          </a:prstGeom>
          <a:solidFill>
            <a:srgbClr val="4CC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148840"/>
            <a:ext cx="731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200" b="1">
                <a:solidFill>
                  <a:srgbClr val="4CC6F1"/>
                </a:solidFill>
                <a:latin typeface="Exo 2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00200" y="2121408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700" b="1">
                <a:solidFill>
                  <a:srgbClr val="000000"/>
                </a:solidFill>
                <a:latin typeface="Exo 2"/>
              </a:rPr>
              <a:t>Кому звонить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00200" y="2514600"/>
            <a:ext cx="42062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182D48"/>
                </a:solidFill>
                <a:latin typeface="Inter"/>
              </a:rPr>
              <a:t>Рейтинг с фильтрами по уровню и срочности, сортировка и экспорт CSV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383280"/>
            <a:ext cx="731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200" b="1">
                <a:solidFill>
                  <a:srgbClr val="4CC6F1"/>
                </a:solidFill>
                <a:latin typeface="Exo 2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00200" y="3355848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700" b="1">
                <a:solidFill>
                  <a:srgbClr val="000000"/>
                </a:solidFill>
                <a:latin typeface="Exo 2"/>
              </a:rPr>
              <a:t>Почему риск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00200" y="3749040"/>
            <a:ext cx="42062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182D48"/>
                </a:solidFill>
                <a:latin typeface="Inter"/>
              </a:rPr>
              <a:t>Причина одной фразой, раскрываемые факты, вклад каждого признака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617720"/>
            <a:ext cx="731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200" b="1">
                <a:solidFill>
                  <a:srgbClr val="4CC6F1"/>
                </a:solidFill>
                <a:latin typeface="Exo 2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00200" y="4590288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700" b="1">
                <a:solidFill>
                  <a:srgbClr val="000000"/>
                </a:solidFill>
                <a:latin typeface="Exo 2"/>
              </a:rPr>
              <a:t>Сколько теряем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00200" y="4983480"/>
            <a:ext cx="42062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182D48"/>
                </a:solidFill>
                <a:latin typeface="Inter"/>
              </a:rPr>
              <a:t>Деньги по ближайшим платежам и готовое письмо клиенту</a:t>
            </a:r>
          </a:p>
        </p:txBody>
      </p:sp>
      <p:pic>
        <p:nvPicPr>
          <p:cNvPr id="17" name="Picture 16" descr="02-overview-14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9320" y="1965960"/>
            <a:ext cx="5349240" cy="6270498"/>
          </a:xfrm>
          <a:prstGeom prst="rect">
            <a:avLst/>
          </a:prstGeom>
          <a:ln w="12700">
            <a:solidFill>
              <a:srgbClr val="DDE2EA"/>
            </a:solidFill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6419088"/>
            <a:ext cx="10545775" cy="9144"/>
          </a:xfrm>
          <a:prstGeom prst="rect">
            <a:avLst/>
          </a:prstGeom>
          <a:solidFill>
            <a:srgbClr val="DDE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182D48"/>
                </a:solidFill>
                <a:latin typeface="Exo 2"/>
              </a:rPr>
              <a:t>ОТТОК · Risk Desk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20095" y="649224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182D48"/>
                </a:solidFill>
                <a:latin typeface="Exo 2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>
                <a:solidFill>
                  <a:srgbClr val="182D48"/>
                </a:solidFill>
                <a:latin typeface="Inter"/>
              </a:rPr>
              <a:t>МОДЕЛЬ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68680"/>
            <a:ext cx="1042416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200" b="1">
                <a:solidFill>
                  <a:srgbClr val="000000"/>
                </a:solidFill>
                <a:latin typeface="Exo 2"/>
              </a:rPr>
              <a:t>Прозрачные правила вместо чёрного ящика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1783080"/>
            <a:ext cx="822960" cy="54864"/>
          </a:xfrm>
          <a:prstGeom prst="rect">
            <a:avLst/>
          </a:prstGeom>
          <a:solidFill>
            <a:srgbClr val="4CC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103120"/>
            <a:ext cx="5852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>
                <a:solidFill>
                  <a:srgbClr val="182D48"/>
                </a:solidFill>
                <a:latin typeface="Inter"/>
              </a:rPr>
              <a:t>СЕМЬ ПРИЗНАКОВ И ВЕСА (МЕНЯЮТСЯ В ПАНЕЛИ)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42316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000000"/>
                </a:solidFill>
                <a:latin typeface="Inter"/>
              </a:rPr>
              <a:t>Срочность продления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63240" y="242316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182D48"/>
                </a:solidFill>
                <a:latin typeface="Inter"/>
              </a:rPr>
              <a:t>0,40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2807208"/>
            <a:ext cx="2788920" cy="9144"/>
          </a:xfrm>
          <a:prstGeom prst="rect">
            <a:avLst/>
          </a:prstGeom>
          <a:solidFill>
            <a:srgbClr val="DDE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94760" y="242316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000000"/>
                </a:solidFill>
                <a:latin typeface="Inter"/>
              </a:rPr>
              <a:t>Нехватка денег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35040" y="242316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182D48"/>
                </a:solidFill>
                <a:latin typeface="Inter"/>
              </a:rPr>
              <a:t>0,25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794760" y="2807208"/>
            <a:ext cx="2788920" cy="9144"/>
          </a:xfrm>
          <a:prstGeom prst="rect">
            <a:avLst/>
          </a:prstGeom>
          <a:solidFill>
            <a:srgbClr val="DDE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2990088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000000"/>
                </a:solidFill>
                <a:latin typeface="Inter"/>
              </a:rPr>
              <a:t>Автопродление off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63240" y="2990088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182D48"/>
                </a:solidFill>
                <a:latin typeface="Inter"/>
              </a:rPr>
              <a:t>0,10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3374136"/>
            <a:ext cx="2788920" cy="9144"/>
          </a:xfrm>
          <a:prstGeom prst="rect">
            <a:avLst/>
          </a:prstGeom>
          <a:solidFill>
            <a:srgbClr val="DDE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794760" y="2990088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000000"/>
                </a:solidFill>
                <a:latin typeface="Inter"/>
              </a:rPr>
              <a:t>Статус услуги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35040" y="2990088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182D48"/>
                </a:solidFill>
                <a:latin typeface="Inter"/>
              </a:rPr>
              <a:t>0,10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794760" y="3374136"/>
            <a:ext cx="2788920" cy="9144"/>
          </a:xfrm>
          <a:prstGeom prst="rect">
            <a:avLst/>
          </a:prstGeom>
          <a:solidFill>
            <a:srgbClr val="DDE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3557015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000000"/>
                </a:solidFill>
                <a:latin typeface="Inter"/>
              </a:rPr>
              <a:t>История неоплат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063240" y="3557015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182D48"/>
                </a:solidFill>
                <a:latin typeface="Inter"/>
              </a:rPr>
              <a:t>0,10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3941063"/>
            <a:ext cx="2788920" cy="9144"/>
          </a:xfrm>
          <a:prstGeom prst="rect">
            <a:avLst/>
          </a:prstGeom>
          <a:solidFill>
            <a:srgbClr val="DDE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794760" y="3557015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000000"/>
                </a:solidFill>
                <a:latin typeface="Inter"/>
              </a:rPr>
              <a:t>Лояльность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35040" y="3557015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182D48"/>
                </a:solidFill>
                <a:latin typeface="Inter"/>
              </a:rPr>
              <a:t>0,05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794760" y="3941063"/>
            <a:ext cx="2788920" cy="9144"/>
          </a:xfrm>
          <a:prstGeom prst="rect">
            <a:avLst/>
          </a:prstGeom>
          <a:solidFill>
            <a:srgbClr val="DDE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4114800"/>
            <a:ext cx="5669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182D48"/>
                </a:solidFill>
                <a:latin typeface="Inter"/>
              </a:rPr>
              <a:t>+ новый признак: доля услуг без автопродления, вес 0,00 — прежние оценки не меняются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60" y="4526280"/>
            <a:ext cx="56692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182D48"/>
                </a:solidFill>
                <a:latin typeface="Inter"/>
              </a:rPr>
              <a:t>Score 0–100 · уровни 40/70 · prolong_wait и устаревшие статусы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182D48"/>
                </a:solidFill>
                <a:latin typeface="Inter"/>
              </a:rPr>
              <a:t>получают минимум 70, blocked — 60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720840" y="2148840"/>
            <a:ext cx="4617720" cy="3566160"/>
          </a:xfrm>
          <a:prstGeom prst="roundRect">
            <a:avLst>
              <a:gd name="adj" fmla="val 8000"/>
            </a:avLst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995160" y="2377440"/>
            <a:ext cx="4114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>
                <a:solidFill>
                  <a:srgbClr val="182D48"/>
                </a:solidFill>
                <a:latin typeface="Inter"/>
              </a:rPr>
              <a:t>ДЕНЬГИ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95160" y="2743200"/>
            <a:ext cx="41148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1">
                <a:solidFill>
                  <a:srgbClr val="000000"/>
                </a:solidFill>
                <a:latin typeface="Exo 2"/>
              </a:rPr>
              <a:t>P(score) × price × (1 − 0,5 × покрытие)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95160" y="3383280"/>
            <a:ext cx="406908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>
                <a:solidFill>
                  <a:srgbClr val="000000"/>
                </a:solidFill>
                <a:latin typeface="Inter"/>
              </a:rPr>
              <a:t>Считаем от ближайшего платежа, а не от суммы транзакции. Баланс снижает потерю максимум наполовину: деньги отложены, но клиент всё равно может уйти.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>
                <a:solidFill>
                  <a:srgbClr val="000000"/>
                </a:solidFill>
                <a:latin typeface="Inter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>
                <a:solidFill>
                  <a:srgbClr val="000000"/>
                </a:solidFill>
                <a:latin typeface="Inter"/>
              </a:rPr>
              <a:t>Пример: 5,50 € через 2 дня, баланс 3,00 € → score 89, ожидаемые потери 6,44 €.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6419088"/>
            <a:ext cx="10545775" cy="9144"/>
          </a:xfrm>
          <a:prstGeom prst="rect">
            <a:avLst/>
          </a:prstGeom>
          <a:solidFill>
            <a:srgbClr val="DDE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182D48"/>
                </a:solidFill>
                <a:latin typeface="Exo 2"/>
              </a:rPr>
              <a:t>ОТТОК · Risk Desk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20095" y="649224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182D48"/>
                </a:solidFill>
                <a:latin typeface="Exo 2"/>
              </a:rPr>
              <a:t>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>
                <a:solidFill>
                  <a:srgbClr val="182D48"/>
                </a:solidFill>
                <a:latin typeface="Inter"/>
              </a:rPr>
              <a:t>ЧЕСТНОСТЬ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68680"/>
            <a:ext cx="1042416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200" b="1">
                <a:solidFill>
                  <a:srgbClr val="000000"/>
                </a:solidFill>
                <a:latin typeface="Exo 2"/>
              </a:rPr>
              <a:t>Почему не ML — и почему это сильная сторона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1783080"/>
            <a:ext cx="822960" cy="54864"/>
          </a:xfrm>
          <a:prstGeom prst="rect">
            <a:avLst/>
          </a:prstGeom>
          <a:solidFill>
            <a:srgbClr val="4CC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194560"/>
            <a:ext cx="5760720" cy="3566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30000"/>
              </a:lnSpc>
              <a:spcAft>
                <a:spcPts val="1100"/>
              </a:spcAft>
            </a:pPr>
            <a:r>
              <a:rPr sz="1500">
                <a:solidFill>
                  <a:srgbClr val="000000"/>
                </a:solidFill>
                <a:latin typeface="Inter"/>
              </a:rPr>
              <a:t>—  В данных нет меток «ушёл / остался» и истории статусов</a:t>
            </a:r>
          </a:p>
          <a:p>
            <a:pPr marL="530352" indent="-274320" lvl="1">
              <a:lnSpc>
                <a:spcPct val="130000"/>
              </a:lnSpc>
              <a:spcAft>
                <a:spcPts val="1100"/>
              </a:spcAft>
            </a:pPr>
            <a:r>
              <a:rPr sz="1300">
                <a:solidFill>
                  <a:srgbClr val="182D48"/>
                </a:solidFill>
                <a:latin typeface="Inter"/>
              </a:rPr>
              <a:t>·  обучать не на чем: 10 записей дадут подгонку, а не прогноз</a:t>
            </a:r>
          </a:p>
          <a:p>
            <a:pPr marL="274320" indent="-274320">
              <a:lnSpc>
                <a:spcPct val="130000"/>
              </a:lnSpc>
              <a:spcAft>
                <a:spcPts val="1100"/>
              </a:spcAft>
            </a:pPr>
            <a:r>
              <a:rPr sz="1500">
                <a:solidFill>
                  <a:srgbClr val="000000"/>
                </a:solidFill>
                <a:latin typeface="Inter"/>
              </a:rPr>
              <a:t>—  Score — экспертная шкала, а не статистическая вероятность</a:t>
            </a:r>
          </a:p>
          <a:p>
            <a:pPr marL="530352" indent="-274320" lvl="1">
              <a:lnSpc>
                <a:spcPct val="130000"/>
              </a:lnSpc>
              <a:spcAft>
                <a:spcPts val="1100"/>
              </a:spcAft>
            </a:pPr>
            <a:r>
              <a:rPr sz="1300">
                <a:solidFill>
                  <a:srgbClr val="182D48"/>
                </a:solidFill>
                <a:latin typeface="Inter"/>
              </a:rPr>
              <a:t>·  P(score) — соглашение, оно подписано и в интерфейсе, и в API</a:t>
            </a:r>
          </a:p>
          <a:p>
            <a:pPr marL="274320" indent="-274320">
              <a:lnSpc>
                <a:spcPct val="130000"/>
              </a:lnSpc>
              <a:spcAft>
                <a:spcPts val="1100"/>
              </a:spcAft>
            </a:pPr>
            <a:r>
              <a:rPr sz="1500">
                <a:solidFill>
                  <a:srgbClr val="000000"/>
                </a:solidFill>
                <a:latin typeface="Inter"/>
              </a:rPr>
              <a:t>—  Зато причины видно, веса можно оспорить и изменить в панели</a:t>
            </a:r>
          </a:p>
          <a:p>
            <a:pPr marL="274320" indent="-274320">
              <a:lnSpc>
                <a:spcPct val="130000"/>
              </a:lnSpc>
              <a:spcAft>
                <a:spcPts val="1100"/>
              </a:spcAft>
            </a:pPr>
            <a:r>
              <a:rPr sz="1500">
                <a:solidFill>
                  <a:srgbClr val="000000"/>
                </a:solidFill>
                <a:latin typeface="Inter"/>
              </a:rPr>
              <a:t>—  Когда появятся исходы, шкала калибруется — архитектура не меняется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040880" y="2194560"/>
            <a:ext cx="4297680" cy="3291840"/>
          </a:xfrm>
          <a:prstGeom prst="roundRect">
            <a:avLst>
              <a:gd name="adj" fmla="val 8000"/>
            </a:avLst>
          </a:prstGeom>
          <a:solidFill>
            <a:srgbClr val="4CC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0" y="2560320"/>
            <a:ext cx="37490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>
                <a:solidFill>
                  <a:srgbClr val="000000"/>
                </a:solidFill>
                <a:latin typeface="Inter"/>
              </a:rPr>
              <a:t>ЧЕГО МЫ НЕ ДЕЛАЕМ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0" y="2926080"/>
            <a:ext cx="3749039" cy="228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30000"/>
              </a:lnSpc>
              <a:spcAft>
                <a:spcPts val="1000"/>
              </a:spcAft>
            </a:pPr>
            <a:r>
              <a:rPr sz="1300">
                <a:solidFill>
                  <a:srgbClr val="000000"/>
                </a:solidFill>
                <a:latin typeface="Inter"/>
              </a:rPr>
              <a:t>—  не обещаем точность прогноза</a:t>
            </a:r>
          </a:p>
          <a:p>
            <a:pPr marL="274320" indent="-274320">
              <a:lnSpc>
                <a:spcPct val="130000"/>
              </a:lnSpc>
              <a:spcAft>
                <a:spcPts val="1000"/>
              </a:spcAft>
            </a:pPr>
            <a:r>
              <a:rPr sz="1300">
                <a:solidFill>
                  <a:srgbClr val="000000"/>
                </a:solidFill>
                <a:latin typeface="Inter"/>
              </a:rPr>
              <a:t>—  не называем деньги гарантированным убытком</a:t>
            </a:r>
          </a:p>
          <a:p>
            <a:pPr marL="274320" indent="-274320">
              <a:lnSpc>
                <a:spcPct val="130000"/>
              </a:lnSpc>
              <a:spcAft>
                <a:spcPts val="1000"/>
              </a:spcAft>
            </a:pPr>
            <a:r>
              <a:rPr sz="1300">
                <a:solidFill>
                  <a:srgbClr val="000000"/>
                </a:solidFill>
                <a:latin typeface="Inter"/>
              </a:rPr>
              <a:t>—  не показываем тренды, которых нет в данных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6419088"/>
            <a:ext cx="10545775" cy="9144"/>
          </a:xfrm>
          <a:prstGeom prst="rect">
            <a:avLst/>
          </a:prstGeom>
          <a:solidFill>
            <a:srgbClr val="DDE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182D48"/>
                </a:solidFill>
                <a:latin typeface="Exo 2"/>
              </a:rPr>
              <a:t>ОТТОК · Risk Desk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20095" y="649224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182D48"/>
                </a:solidFill>
                <a:latin typeface="Exo 2"/>
              </a:rPr>
              <a:t>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>
                <a:solidFill>
                  <a:srgbClr val="182D48"/>
                </a:solidFill>
                <a:latin typeface="Inter"/>
              </a:rPr>
              <a:t>ДЕЙСТВИЕ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68680"/>
            <a:ext cx="1042416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200" b="1">
                <a:solidFill>
                  <a:srgbClr val="000000"/>
                </a:solidFill>
                <a:latin typeface="Exo 2"/>
              </a:rPr>
              <a:t>Из анализа — в письмо клиенту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1783080"/>
            <a:ext cx="822960" cy="54864"/>
          </a:xfrm>
          <a:prstGeom prst="rect">
            <a:avLst/>
          </a:prstGeom>
          <a:solidFill>
            <a:srgbClr val="4CC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148840"/>
            <a:ext cx="4069080" cy="3566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30000"/>
              </a:lnSpc>
              <a:spcAft>
                <a:spcPts val="1200"/>
              </a:spcAft>
            </a:pPr>
            <a:r>
              <a:rPr sz="1400">
                <a:solidFill>
                  <a:srgbClr val="000000"/>
                </a:solidFill>
                <a:latin typeface="Inter"/>
              </a:rPr>
              <a:t>—  Черновик письма под 7 ситуаций — от нехватки денег до блокировки</a:t>
            </a:r>
          </a:p>
          <a:p>
            <a:pPr marL="274320" indent="-274320">
              <a:lnSpc>
                <a:spcPct val="130000"/>
              </a:lnSpc>
              <a:spcAft>
                <a:spcPts val="1200"/>
              </a:spcAft>
            </a:pPr>
            <a:r>
              <a:rPr sz="1400">
                <a:solidFill>
                  <a:srgbClr val="000000"/>
                </a:solidFill>
                <a:latin typeface="Inter"/>
              </a:rPr>
              <a:t>—  Суммы, сроки и услуга подставляются из расчёта</a:t>
            </a:r>
          </a:p>
          <a:p>
            <a:pPr marL="274320" indent="-274320">
              <a:lnSpc>
                <a:spcPct val="130000"/>
              </a:lnSpc>
              <a:spcAft>
                <a:spcPts val="1200"/>
              </a:spcAft>
            </a:pPr>
            <a:r>
              <a:rPr sz="1400">
                <a:solidFill>
                  <a:srgbClr val="000000"/>
                </a:solidFill>
                <a:latin typeface="Inter"/>
              </a:rPr>
              <a:t>—  Копирование и mailto: — отправляет маркетолог</a:t>
            </a:r>
          </a:p>
          <a:p>
            <a:pPr marL="274320" indent="-274320">
              <a:lnSpc>
                <a:spcPct val="130000"/>
              </a:lnSpc>
              <a:spcAft>
                <a:spcPts val="1200"/>
              </a:spcAft>
            </a:pPr>
            <a:r>
              <a:rPr sz="1400">
                <a:solidFill>
                  <a:srgbClr val="000000"/>
                </a:solidFill>
                <a:latin typeface="Inter"/>
              </a:rPr>
              <a:t>—  Веса меняются без перезагрузки, метрики сходятся с UI</a:t>
            </a:r>
          </a:p>
        </p:txBody>
      </p:sp>
      <p:pic>
        <p:nvPicPr>
          <p:cNvPr id="9" name="Picture 8" descr="04-customer-c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74920" y="1783080"/>
            <a:ext cx="3017520" cy="3367468"/>
          </a:xfrm>
          <a:prstGeom prst="rect">
            <a:avLst/>
          </a:prstGeom>
          <a:ln w="12700">
            <a:solidFill>
              <a:srgbClr val="DDE2EA"/>
            </a:solidFill>
          </a:ln>
        </p:spPr>
      </p:pic>
      <p:pic>
        <p:nvPicPr>
          <p:cNvPr id="10" name="Picture 9" descr="10-email-dialo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0" y="2148840"/>
            <a:ext cx="3017520" cy="1885950"/>
          </a:xfrm>
          <a:prstGeom prst="rect">
            <a:avLst/>
          </a:prstGeom>
          <a:ln w="12700">
            <a:solidFill>
              <a:srgbClr val="DDE2EA"/>
            </a:solidFill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6419088"/>
            <a:ext cx="10545775" cy="9144"/>
          </a:xfrm>
          <a:prstGeom prst="rect">
            <a:avLst/>
          </a:prstGeom>
          <a:solidFill>
            <a:srgbClr val="DDE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182D48"/>
                </a:solidFill>
                <a:latin typeface="Exo 2"/>
              </a:rPr>
              <a:t>ОТТОК · Risk Desk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20095" y="649224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182D48"/>
                </a:solidFill>
                <a:latin typeface="Exo 2"/>
              </a:rPr>
              <a:t>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>
                <a:solidFill>
                  <a:srgbClr val="182D48"/>
                </a:solidFill>
                <a:latin typeface="Inter"/>
              </a:rPr>
              <a:t>ПРОГНОЗ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68680"/>
            <a:ext cx="1042416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200" b="1">
                <a:solidFill>
                  <a:srgbClr val="000000"/>
                </a:solidFill>
                <a:latin typeface="Exo 2"/>
              </a:rPr>
              <a:t>Когда наступит отток: факт и прогноз разделены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1783080"/>
            <a:ext cx="822960" cy="54864"/>
          </a:xfrm>
          <a:prstGeom prst="rect">
            <a:avLst/>
          </a:prstGeom>
          <a:solidFill>
            <a:srgbClr val="4CC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12-foreca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2103120"/>
            <a:ext cx="7589520" cy="3828521"/>
          </a:xfrm>
          <a:prstGeom prst="rect">
            <a:avLst/>
          </a:prstGeom>
          <a:ln w="12700">
            <a:solidFill>
              <a:srgbClr val="DDE2EA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8732520" y="2148840"/>
            <a:ext cx="2834640" cy="3474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30000"/>
              </a:lnSpc>
              <a:spcAft>
                <a:spcPts val="1200"/>
              </a:spcAft>
            </a:pPr>
            <a:r>
              <a:rPr sz="1200">
                <a:solidFill>
                  <a:srgbClr val="000000"/>
                </a:solidFill>
                <a:latin typeface="Inter"/>
              </a:rPr>
              <a:t>—  Слева — факт по снимку: срок истёк, услуга не продлена</a:t>
            </a:r>
          </a:p>
          <a:p>
            <a:pPr marL="274320" indent="-274320">
              <a:lnSpc>
                <a:spcPct val="130000"/>
              </a:lnSpc>
              <a:spcAft>
                <a:spcPts val="1200"/>
              </a:spcAft>
            </a:pPr>
            <a:r>
              <a:rPr sz="1200">
                <a:solidFill>
                  <a:srgbClr val="000000"/>
                </a:solidFill>
                <a:latin typeface="Inter"/>
              </a:rPr>
              <a:t>—  Справа — прогноз: срок истекает, вероятность взята из score</a:t>
            </a:r>
          </a:p>
          <a:p>
            <a:pPr marL="274320" indent="-274320">
              <a:lnSpc>
                <a:spcPct val="130000"/>
              </a:lnSpc>
              <a:spcAft>
                <a:spcPts val="1200"/>
              </a:spcAft>
            </a:pPr>
            <a:r>
              <a:rPr sz="1200">
                <a:solidFill>
                  <a:srgbClr val="000000"/>
                </a:solidFill>
                <a:latin typeface="Inter"/>
              </a:rPr>
              <a:t>—  Исторических удалений нет: в данных нет даты удаления — говорим прямо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6419088"/>
            <a:ext cx="10545775" cy="9144"/>
          </a:xfrm>
          <a:prstGeom prst="rect">
            <a:avLst/>
          </a:prstGeom>
          <a:solidFill>
            <a:srgbClr val="DDE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182D48"/>
                </a:solidFill>
                <a:latin typeface="Exo 2"/>
              </a:rPr>
              <a:t>ОТТОК · Risk Desk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20095" y="649224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182D48"/>
                </a:solidFill>
                <a:latin typeface="Exo 2"/>
              </a:rPr>
              <a:t>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>
                <a:solidFill>
                  <a:srgbClr val="182D48"/>
                </a:solidFill>
                <a:latin typeface="Inter"/>
              </a:rPr>
              <a:t>ИНЖЕНЕРИЯ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68680"/>
            <a:ext cx="1042416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200" b="1">
                <a:solidFill>
                  <a:srgbClr val="000000"/>
                </a:solidFill>
                <a:latin typeface="Exo 2"/>
              </a:rPr>
              <a:t>Одна команда — и проверки машиной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1783080"/>
            <a:ext cx="822960" cy="54864"/>
          </a:xfrm>
          <a:prstGeom prst="rect">
            <a:avLst/>
          </a:prstGeom>
          <a:solidFill>
            <a:srgbClr val="4CC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22960" y="2240280"/>
            <a:ext cx="2395728" cy="1417320"/>
          </a:xfrm>
          <a:prstGeom prst="roundRect">
            <a:avLst>
              <a:gd name="adj" fmla="val 8000"/>
            </a:avLst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423160"/>
            <a:ext cx="2148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000" b="1">
                <a:solidFill>
                  <a:srgbClr val="000000"/>
                </a:solidFill>
                <a:latin typeface="Exo 2"/>
              </a:rPr>
              <a:t>1 команда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880360"/>
            <a:ext cx="214884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182D48"/>
                </a:solidFill>
                <a:latin typeface="Inter"/>
              </a:rPr>
              <a:t>docker compose up --build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182D48"/>
                </a:solidFill>
                <a:latin typeface="Inter"/>
              </a:rPr>
              <a:t>12 секунд до healthz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93008" y="2240280"/>
            <a:ext cx="2395728" cy="1417320"/>
          </a:xfrm>
          <a:prstGeom prst="roundRect">
            <a:avLst>
              <a:gd name="adj" fmla="val 8000"/>
            </a:avLst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75887" y="2423160"/>
            <a:ext cx="2148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000" b="1">
                <a:solidFill>
                  <a:srgbClr val="000000"/>
                </a:solidFill>
                <a:latin typeface="Exo 2"/>
              </a:rPr>
              <a:t>441 тест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75887" y="2880360"/>
            <a:ext cx="214884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182D48"/>
                </a:solidFill>
                <a:latin typeface="Inter"/>
              </a:rPr>
              <a:t>backend + генератор данных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182D48"/>
                </a:solidFill>
                <a:latin typeface="Inter"/>
              </a:rPr>
              <a:t>9 e2e в браузере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6" y="2240280"/>
            <a:ext cx="2395728" cy="1417320"/>
          </a:xfrm>
          <a:prstGeom prst="roundRect">
            <a:avLst>
              <a:gd name="adj" fmla="val 8000"/>
            </a:avLst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45936" y="2423160"/>
            <a:ext cx="2148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000" b="1">
                <a:solidFill>
                  <a:srgbClr val="000000"/>
                </a:solidFill>
                <a:latin typeface="Exo 2"/>
              </a:rPr>
              <a:t>CI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45936" y="2880360"/>
            <a:ext cx="214884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182D48"/>
                </a:solidFill>
                <a:latin typeface="Inter"/>
              </a:rPr>
              <a:t>pytest, сборка, OpenAPI,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182D48"/>
                </a:solidFill>
                <a:latin typeface="Inter"/>
              </a:rPr>
              <a:t>compose и docker build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833104" y="2240280"/>
            <a:ext cx="2395728" cy="1417320"/>
          </a:xfrm>
          <a:prstGeom prst="roundRect">
            <a:avLst>
              <a:gd name="adj" fmla="val 8000"/>
            </a:avLst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015984" y="2423160"/>
            <a:ext cx="2148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000" b="1">
                <a:solidFill>
                  <a:srgbClr val="000000"/>
                </a:solidFill>
                <a:latin typeface="Exo 2"/>
              </a:rPr>
              <a:t>SSO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15984" y="2880360"/>
            <a:ext cx="214884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182D48"/>
                </a:solidFill>
                <a:latin typeface="Inter"/>
              </a:rPr>
              <a:t>OIDC + PKCE, Keycloak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182D48"/>
                </a:solidFill>
                <a:latin typeface="Inter"/>
              </a:rPr>
              <a:t>в отдельном оверлее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3977639"/>
            <a:ext cx="585216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30000"/>
              </a:lnSpc>
              <a:spcAft>
                <a:spcPts val="1000"/>
              </a:spcAft>
            </a:pPr>
            <a:r>
              <a:rPr sz="1400">
                <a:solidFill>
                  <a:srgbClr val="000000"/>
                </a:solidFill>
                <a:latin typeface="Inter"/>
              </a:rPr>
              <a:t>—  10 000 клиентов: пересчёт 3,1 с, список p95 24 мс</a:t>
            </a:r>
          </a:p>
          <a:p>
            <a:pPr marL="274320" indent="-274320">
              <a:lnSpc>
                <a:spcPct val="130000"/>
              </a:lnSpc>
              <a:spcAft>
                <a:spcPts val="1000"/>
              </a:spcAft>
            </a:pPr>
            <a:r>
              <a:rPr sz="1400">
                <a:solidFill>
                  <a:srgbClr val="000000"/>
                </a:solidFill>
                <a:latin typeface="Inter"/>
              </a:rPr>
              <a:t>—  Prometheus /metrics и Swagger /api/v1/docs</a:t>
            </a:r>
          </a:p>
          <a:p>
            <a:pPr marL="274320" indent="-274320">
              <a:lnSpc>
                <a:spcPct val="130000"/>
              </a:lnSpc>
              <a:spcAft>
                <a:spcPts val="1000"/>
              </a:spcAft>
            </a:pPr>
            <a:r>
              <a:rPr sz="1400">
                <a:solidFill>
                  <a:srgbClr val="000000"/>
                </a:solidFill>
                <a:latin typeface="Inter"/>
              </a:rPr>
              <a:t>—  Настройки и снимок переживают перезапуск</a:t>
            </a:r>
          </a:p>
        </p:txBody>
      </p:sp>
      <p:pic>
        <p:nvPicPr>
          <p:cNvPr id="21" name="Picture 20" descr="11-login-ss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79" y="3794760"/>
            <a:ext cx="3703320" cy="2314575"/>
          </a:xfrm>
          <a:prstGeom prst="rect">
            <a:avLst/>
          </a:prstGeom>
          <a:ln w="12700">
            <a:solidFill>
              <a:srgbClr val="DDE2EA"/>
            </a:solidFill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4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6419088"/>
            <a:ext cx="10545775" cy="9144"/>
          </a:xfrm>
          <a:prstGeom prst="rect">
            <a:avLst/>
          </a:prstGeom>
          <a:solidFill>
            <a:srgbClr val="DDE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182D48"/>
                </a:solidFill>
                <a:latin typeface="Exo 2"/>
              </a:rPr>
              <a:t>ОТТОК · Risk Desk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20095" y="649224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182D48"/>
                </a:solidFill>
                <a:latin typeface="Exo 2"/>
              </a:rPr>
              <a:t>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>
                <a:solidFill>
                  <a:srgbClr val="182D48"/>
                </a:solidFill>
                <a:latin typeface="Inter"/>
              </a:rPr>
              <a:t>ГРАНИЦЫ И СЛЕДУЮЩИЙ ШАГ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68680"/>
            <a:ext cx="1042416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200" b="1">
                <a:solidFill>
                  <a:srgbClr val="000000"/>
                </a:solidFill>
                <a:latin typeface="Exo 2"/>
              </a:rPr>
              <a:t>Что мы знаем про свои ограничения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1783080"/>
            <a:ext cx="822960" cy="54864"/>
          </a:xfrm>
          <a:prstGeom prst="rect">
            <a:avLst/>
          </a:prstGeom>
          <a:solidFill>
            <a:srgbClr val="4CC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194560"/>
            <a:ext cx="5394960" cy="3566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30000"/>
              </a:lnSpc>
              <a:spcAft>
                <a:spcPts val="1300"/>
              </a:spcAft>
            </a:pPr>
            <a:r>
              <a:rPr sz="1500">
                <a:solidFill>
                  <a:srgbClr val="000000"/>
                </a:solidFill>
                <a:latin typeface="Inter"/>
              </a:rPr>
              <a:t>—  10 клиентов в демо-данных — для «топ-клиентов» мало</a:t>
            </a:r>
          </a:p>
          <a:p>
            <a:pPr marL="274320" indent="-274320">
              <a:lnSpc>
                <a:spcPct val="130000"/>
              </a:lnSpc>
              <a:spcAft>
                <a:spcPts val="1300"/>
              </a:spcAft>
            </a:pPr>
            <a:r>
              <a:rPr sz="1500">
                <a:solidFill>
                  <a:srgbClr val="000000"/>
                </a:solidFill>
                <a:latin typeface="Inter"/>
              </a:rPr>
              <a:t>—  Нет истории статусов: прогноза оттока во времени нет</a:t>
            </a:r>
          </a:p>
          <a:p>
            <a:pPr marL="274320" indent="-274320">
              <a:lnSpc>
                <a:spcPct val="130000"/>
              </a:lnSpc>
              <a:spcAft>
                <a:spcPts val="1300"/>
              </a:spcAft>
            </a:pPr>
            <a:r>
              <a:rPr sz="1500">
                <a:solidFill>
                  <a:srgbClr val="000000"/>
                </a:solidFill>
                <a:latin typeface="Inter"/>
              </a:rPr>
              <a:t>—  Деньги — оценка ближайших платежей, не месячная выручка</a:t>
            </a:r>
          </a:p>
          <a:p>
            <a:pPr marL="274320" indent="-274320">
              <a:lnSpc>
                <a:spcPct val="130000"/>
              </a:lnSpc>
              <a:spcAft>
                <a:spcPts val="1300"/>
              </a:spcAft>
            </a:pPr>
            <a:r>
              <a:rPr sz="1500">
                <a:solidFill>
                  <a:srgbClr val="000000"/>
                </a:solidFill>
                <a:latin typeface="Inter"/>
              </a:rPr>
              <a:t>—  Дальше: накопление снапшотов, калибровка на исходах, Grafana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0" y="2194560"/>
            <a:ext cx="4937760" cy="3291840"/>
          </a:xfrm>
          <a:prstGeom prst="roundRect">
            <a:avLst>
              <a:gd name="adj" fmla="val 8000"/>
            </a:avLst>
          </a:prstGeom>
          <a:solidFill>
            <a:srgbClr val="4CC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720840" y="2514600"/>
            <a:ext cx="43434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000" b="1">
                <a:solidFill>
                  <a:srgbClr val="000000"/>
                </a:solidFill>
                <a:latin typeface="Exo 2"/>
              </a:rPr>
              <a:t>Риск превращается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000" b="1">
                <a:solidFill>
                  <a:srgbClr val="000000"/>
                </a:solidFill>
                <a:latin typeface="Exo 2"/>
              </a:rPr>
              <a:t>в действие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20840" y="3794760"/>
            <a:ext cx="434340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000000"/>
                </a:solidFill>
                <a:latin typeface="Inter"/>
              </a:rPr>
              <a:t>Репозиторий и инструкция для запуска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000000"/>
                </a:solidFill>
                <a:latin typeface="Inter"/>
              </a:rPr>
              <a:t>в docs/JURY.md — три минуты до панели.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